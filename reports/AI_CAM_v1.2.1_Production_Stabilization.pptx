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a9f3dcafa5422f" /><Relationship Type="http://schemas.openxmlformats.org/officeDocument/2006/relationships/extended-properties" Target="/docProps/app.xml" Id="R5edf5fa959ef46c2" /><Relationship Type="http://schemas.openxmlformats.org/officeDocument/2006/relationships/officeDocument" Target="/ppt/presentation.xml" Id="R3ede4f741aa645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4888a9f8b64122"/>
  </p:sldMasterIdLst>
  <p:notesMasterIdLst>
    <p:notesMasterId xmlns:r="http://schemas.openxmlformats.org/officeDocument/2006/relationships" r:id="Rd949d0b88e2d44f9"/>
  </p:notesMasterIdLst>
  <p:sldIdLst>
    <p:sldId xmlns:r="http://schemas.openxmlformats.org/officeDocument/2006/relationships" id="256" r:id="Rccfdf73cf7de4e21"/>
    <p:sldId xmlns:r="http://schemas.openxmlformats.org/officeDocument/2006/relationships" id="257" r:id="R0f2d30e0f22743b2"/>
    <p:sldId xmlns:r="http://schemas.openxmlformats.org/officeDocument/2006/relationships" id="258" r:id="Rc0ce19772e764373"/>
    <p:sldId xmlns:r="http://schemas.openxmlformats.org/officeDocument/2006/relationships" id="259" r:id="Rd25faeacd44a4dbe"/>
    <p:sldId xmlns:r="http://schemas.openxmlformats.org/officeDocument/2006/relationships" id="260" r:id="R509f753900ad4700"/>
    <p:sldId xmlns:r="http://schemas.openxmlformats.org/officeDocument/2006/relationships" id="261" r:id="Rdf272c36db11421d"/>
    <p:sldId xmlns:r="http://schemas.openxmlformats.org/officeDocument/2006/relationships" id="262" r:id="R920dd9a985c74fb3"/>
    <p:sldId xmlns:r="http://schemas.openxmlformats.org/officeDocument/2006/relationships" id="263" r:id="R5ccf0bbaa5734de6"/>
    <p:sldId xmlns:r="http://schemas.openxmlformats.org/officeDocument/2006/relationships" id="264" r:id="R20ffcaeb44714472"/>
    <p:sldId xmlns:r="http://schemas.openxmlformats.org/officeDocument/2006/relationships" id="265" r:id="R1937fb9384be4c8e"/>
    <p:sldId xmlns:r="http://schemas.openxmlformats.org/officeDocument/2006/relationships" id="266" r:id="R2a14e0feaea3403c"/>
    <p:sldId xmlns:r="http://schemas.openxmlformats.org/officeDocument/2006/relationships" id="267" r:id="R5933032b66a14b04"/>
    <p:sldId xmlns:r="http://schemas.openxmlformats.org/officeDocument/2006/relationships" id="268" r:id="R53d5e24d99e14e14"/>
    <p:sldId xmlns:r="http://schemas.openxmlformats.org/officeDocument/2006/relationships" id="269" r:id="Reed01aff6c4c486b"/>
    <p:sldId xmlns:r="http://schemas.openxmlformats.org/officeDocument/2006/relationships" id="270" r:id="R7e791d12b4c94132"/>
    <p:sldId xmlns:r="http://schemas.openxmlformats.org/officeDocument/2006/relationships" id="271" r:id="Ra4eaf2b5cc8f4696"/>
    <p:sldId xmlns:r="http://schemas.openxmlformats.org/officeDocument/2006/relationships" id="272" r:id="R0551ccaef82242cf"/>
    <p:sldId xmlns:r="http://schemas.openxmlformats.org/officeDocument/2006/relationships" id="273" r:id="R57df41dba2a246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3ab3a615984831" /><Relationship Type="http://schemas.openxmlformats.org/officeDocument/2006/relationships/slideMaster" Target="/ppt/slideMasters/slideMaster1.xml" Id="Rf94888a9f8b64122" /><Relationship Type="http://schemas.openxmlformats.org/officeDocument/2006/relationships/notesMaster" Target="/ppt/notesMasters/notesMaster1.xml" Id="Rd949d0b88e2d44f9" /><Relationship Type="http://schemas.openxmlformats.org/officeDocument/2006/relationships/presProps" Target="/ppt/presProps.xml" Id="R2a7c5f06d1384cb9" /><Relationship Type="http://schemas.openxmlformats.org/officeDocument/2006/relationships/tableStyles" Target="/ppt/tableStyles.xml" Id="Rd807cd4532e04aa6" /><Relationship Type="http://schemas.openxmlformats.org/officeDocument/2006/relationships/slide" Target="/ppt/slides/slide1.xml" Id="Rccfdf73cf7de4e21" /><Relationship Type="http://schemas.openxmlformats.org/officeDocument/2006/relationships/slide" Target="/ppt/slides/slide2.xml" Id="R0f2d30e0f22743b2" /><Relationship Type="http://schemas.openxmlformats.org/officeDocument/2006/relationships/slide" Target="/ppt/slides/slide3.xml" Id="Rc0ce19772e764373" /><Relationship Type="http://schemas.openxmlformats.org/officeDocument/2006/relationships/slide" Target="/ppt/slides/slide4.xml" Id="Rd25faeacd44a4dbe" /><Relationship Type="http://schemas.openxmlformats.org/officeDocument/2006/relationships/slide" Target="/ppt/slides/slide5.xml" Id="R509f753900ad4700" /><Relationship Type="http://schemas.openxmlformats.org/officeDocument/2006/relationships/slide" Target="/ppt/slides/slide6.xml" Id="Rdf272c36db11421d" /><Relationship Type="http://schemas.openxmlformats.org/officeDocument/2006/relationships/slide" Target="/ppt/slides/slide7.xml" Id="R920dd9a985c74fb3" /><Relationship Type="http://schemas.openxmlformats.org/officeDocument/2006/relationships/slide" Target="/ppt/slides/slide8.xml" Id="R5ccf0bbaa5734de6" /><Relationship Type="http://schemas.openxmlformats.org/officeDocument/2006/relationships/slide" Target="/ppt/slides/slide9.xml" Id="R20ffcaeb44714472" /><Relationship Type="http://schemas.openxmlformats.org/officeDocument/2006/relationships/slide" Target="/ppt/slides/slide10.xml" Id="R1937fb9384be4c8e" /><Relationship Type="http://schemas.openxmlformats.org/officeDocument/2006/relationships/slide" Target="/ppt/slides/slide11.xml" Id="R2a14e0feaea3403c" /><Relationship Type="http://schemas.openxmlformats.org/officeDocument/2006/relationships/slide" Target="/ppt/slides/slide12.xml" Id="R5933032b66a14b04" /><Relationship Type="http://schemas.openxmlformats.org/officeDocument/2006/relationships/slide" Target="/ppt/slides/slide13.xml" Id="R53d5e24d99e14e14" /><Relationship Type="http://schemas.openxmlformats.org/officeDocument/2006/relationships/slide" Target="/ppt/slides/slide14.xml" Id="Reed01aff6c4c486b" /><Relationship Type="http://schemas.openxmlformats.org/officeDocument/2006/relationships/slide" Target="/ppt/slides/slide15.xml" Id="R7e791d12b4c94132" /><Relationship Type="http://schemas.openxmlformats.org/officeDocument/2006/relationships/slide" Target="/ppt/slides/slide16.xml" Id="Ra4eaf2b5cc8f4696" /><Relationship Type="http://schemas.openxmlformats.org/officeDocument/2006/relationships/slide" Target="/ppt/slides/slide17.xml" Id="R0551ccaef82242cf" /><Relationship Type="http://schemas.openxmlformats.org/officeDocument/2006/relationships/slide" Target="/ppt/slides/slide18.xml" Id="R57df41dba2a246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cbbcbfceac42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802db66a5c4e1d" /><Relationship Type="http://schemas.openxmlformats.org/officeDocument/2006/relationships/notesMaster" Target="/ppt/notesMasters/notesMaster1.xml" Id="Rac2dc0bb751b4e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36ca8a3b444ed1" /><Relationship Type="http://schemas.openxmlformats.org/officeDocument/2006/relationships/notesMaster" Target="/ppt/notesMasters/notesMaster1.xml" Id="R59297bbe33214f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269b628a3b4329" /><Relationship Type="http://schemas.openxmlformats.org/officeDocument/2006/relationships/notesMaster" Target="/ppt/notesMasters/notesMaster1.xml" Id="Rd909d19776fa44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60b0f95dbc45b9" /><Relationship Type="http://schemas.openxmlformats.org/officeDocument/2006/relationships/notesMaster" Target="/ppt/notesMasters/notesMaster1.xml" Id="R7d34cd3e3e9847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7405e697a04c25" /><Relationship Type="http://schemas.openxmlformats.org/officeDocument/2006/relationships/notesMaster" Target="/ppt/notesMasters/notesMaster1.xml" Id="R82fe9ea6ab2447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648e4d7ecc495b" /><Relationship Type="http://schemas.openxmlformats.org/officeDocument/2006/relationships/notesMaster" Target="/ppt/notesMasters/notesMaster1.xml" Id="R8a70b78c346841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4e303142c14963" /><Relationship Type="http://schemas.openxmlformats.org/officeDocument/2006/relationships/notesMaster" Target="/ppt/notesMasters/notesMaster1.xml" Id="R5fa9ade7315a4f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c67323fb4647ef" /><Relationship Type="http://schemas.openxmlformats.org/officeDocument/2006/relationships/notesMaster" Target="/ppt/notesMasters/notesMaster1.xml" Id="Re1ba35d95dd746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4a5c983cc94d02" /><Relationship Type="http://schemas.openxmlformats.org/officeDocument/2006/relationships/notesMaster" Target="/ppt/notesMasters/notesMaster1.xml" Id="R88574b500ff640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6f130564084d3e" /><Relationship Type="http://schemas.openxmlformats.org/officeDocument/2006/relationships/notesMaster" Target="/ppt/notesMasters/notesMaster1.xml" Id="Re69c9b2882194c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6b7067821241c0" /><Relationship Type="http://schemas.openxmlformats.org/officeDocument/2006/relationships/notesMaster" Target="/ppt/notesMasters/notesMaster1.xml" Id="Rd811368f99c74b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ba8ef5ddb144da" /><Relationship Type="http://schemas.openxmlformats.org/officeDocument/2006/relationships/notesMaster" Target="/ppt/notesMasters/notesMaster1.xml" Id="Rea86beaf844d42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77e6288c9446ac" /><Relationship Type="http://schemas.openxmlformats.org/officeDocument/2006/relationships/notesMaster" Target="/ppt/notesMasters/notesMaster1.xml" Id="R0f4cf86d530945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15886962cf46cf" /><Relationship Type="http://schemas.openxmlformats.org/officeDocument/2006/relationships/notesMaster" Target="/ppt/notesMasters/notesMaster1.xml" Id="R429ee3cb77b64b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b06573df4b4d28" /><Relationship Type="http://schemas.openxmlformats.org/officeDocument/2006/relationships/notesMaster" Target="/ppt/notesMasters/notesMaster1.xml" Id="Rc1704637813841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28f428bd6b424c" /><Relationship Type="http://schemas.openxmlformats.org/officeDocument/2006/relationships/notesMaster" Target="/ppt/notesMasters/notesMaster1.xml" Id="R3ac41cc6000b4b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4ef57ae1774082" /><Relationship Type="http://schemas.openxmlformats.org/officeDocument/2006/relationships/notesMaster" Target="/ppt/notesMasters/notesMaster1.xml" Id="R30ce666538994e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f0e83dc9bf4e07" /><Relationship Type="http://schemas.openxmlformats.org/officeDocument/2006/relationships/notesMaster" Target="/ppt/notesMasters/notesMaster1.xml" Id="Rf5aa2994360a40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VERSION; config/settings.yaml</a:t>
            </a:r>
          </a:p>
          <a:p xmlns:a="http://schemas.openxmlformats.org/drawingml/2006/main">
            <a:r>
              <a:t>- Generated visual: reports/assets/ai_cam_isometric_hero.png (OpenAI ImageGen; no external asset)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backend/pipeline.py</a:t>
            </a:r>
          </a:p>
          <a:p xmlns:a="http://schemas.openxmlformats.org/drawingml/2006/main">
            <a:r>
              <a:t>- Repository: backend/database/db.py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backend/pipeline.py</a:t>
            </a:r>
          </a:p>
          <a:p xmlns:a="http://schemas.openxmlformats.org/drawingml/2006/main">
            <a:r>
              <a:t>- Repository: backend/rfid/rfid_service.py</a:t>
            </a:r>
          </a:p>
          <a:p xmlns:a="http://schemas.openxmlformats.org/drawingml/2006/main">
            <a:r>
              <a:t>- Repository: backend/database/db.py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config/settings.yaml (plc and session sections)</a:t>
            </a:r>
          </a:p>
          <a:p xmlns:a="http://schemas.openxmlformats.org/drawingml/2006/main">
            <a:r>
              <a:t>- Repository: backend/plc/plc_service.py</a:t>
            </a:r>
          </a:p>
          <a:p xmlns:a="http://schemas.openxmlformats.org/drawingml/2006/main">
            <a:r>
              <a:t>- Repository: backend/pipeline.py</a:t>
            </a:r>
          </a:p>
          <a:p xmlns:a="http://schemas.openxmlformats.org/drawingml/2006/main">
            <a:r>
              <a:t>- Repository: backend/plc/edge_audit.py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reports/HARDWARE_CAPABILITY_REPORT.md</a:t>
            </a:r>
          </a:p>
          <a:p xmlns:a="http://schemas.openxmlformats.org/drawingml/2006/main">
            <a:r>
              <a:t>- SICK official operating instructions: https://cdn.sick.com/media/docs/3/53/453/operating_instructions_lector64x_65x_flex_lector65x_dynamic_focus_fr_im0071453.pdf</a:t>
            </a:r>
          </a:p>
          <a:p xmlns:a="http://schemas.openxmlformats.org/drawingml/2006/main">
            <a:r>
              <a:t>- Mitsubishi official MC Protocol manual: https://www.mitsubishielectric.com/dl/fa/document/manual/plc/sh080008/sh080008ab.pdf</a:t>
            </a:r>
          </a:p>
          <a:p xmlns:a="http://schemas.openxmlformats.org/drawingml/2006/main">
            <a:r>
              <a:t>- Impinj R700 official datasheet: https://support.impinj.com/hc/article_attachments/31243539924371</a:t>
            </a:r>
          </a:p>
          <a:p xmlns:a="http://schemas.openxmlformats.org/drawingml/2006/main">
            <a:r>
              <a:t>- NVIDIA model is not asserted; README.md uses GTX 1650 only as an example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backend/camera/camera_client.py</a:t>
            </a:r>
          </a:p>
          <a:p xmlns:a="http://schemas.openxmlformats.org/drawingml/2006/main">
            <a:r>
              <a:t>- Repository: backend/ai/detector.py</a:t>
            </a:r>
          </a:p>
          <a:p xmlns:a="http://schemas.openxmlformats.org/drawingml/2006/main">
            <a:r>
              <a:t>- Repository: backend/pipeline.py (_submit_ocr_frames)</a:t>
            </a:r>
          </a:p>
          <a:p xmlns:a="http://schemas.openxmlformats.org/drawingml/2006/main">
            <a:r>
              <a:t>- Repository: backend/config.py (ocr_submit_min_yolo_conf default)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docs/OCR_FUSION.md</a:t>
            </a:r>
          </a:p>
          <a:p xmlns:a="http://schemas.openxmlformats.org/drawingml/2006/main">
            <a:r>
              <a:t>- Repository: backend/ai/ocr_orchestrator.py</a:t>
            </a:r>
          </a:p>
          <a:p xmlns:a="http://schemas.openxmlformats.org/drawingml/2006/main">
            <a:r>
              <a:t>- Repository: backend/ai/engines/engraved_v121.py</a:t>
            </a:r>
          </a:p>
          <a:p xmlns:a="http://schemas.openxmlformats.org/drawingml/2006/main">
            <a:r>
              <a:t>- Repository: backend/ai/engines/paddle_profiles.py</a:t>
            </a:r>
          </a:p>
          <a:p xmlns:a="http://schemas.openxmlformats.org/drawingml/2006/main">
            <a:r>
              <a:t>- Repository: backend/database/ocr_v121_db.py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config/settings.yaml (ocr_release.release_mode)</a:t>
            </a:r>
          </a:p>
          <a:p xmlns:a="http://schemas.openxmlformats.org/drawingml/2006/main">
            <a:r>
              <a:t>- Repository: RELEASE_NOTES_v1.2.1.md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backend/config.py</a:t>
            </a:r>
          </a:p>
          <a:p xmlns:a="http://schemas.openxmlformats.org/drawingml/2006/main">
            <a:r>
              <a:t>- Repository: backend/ai/ocr_orchestrator.py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backend/ai/ocr_disagreement.py</a:t>
            </a:r>
          </a:p>
          <a:p xmlns:a="http://schemas.openxmlformats.org/drawingml/2006/main">
            <a:r>
              <a:t>- Repository: docs/OCR_FUSION.md</a:t>
            </a:r>
          </a:p>
          <a:p xmlns:a="http://schemas.openxmlformats.org/drawingml/2006/main">
            <a:r>
              <a:t>- Repository asset boundary: runtime/crops contains only .gitkeep in this release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docs/DATASET_CHARACTER_ALIGNMENT.md</a:t>
            </a:r>
          </a:p>
          <a:p xmlns:a="http://schemas.openxmlformats.org/drawingml/2006/main">
            <a:r>
              <a:t>- Repository: backend/ai/ocr_collector.py</a:t>
            </a:r>
          </a:p>
          <a:p xmlns:a="http://schemas.openxmlformats.org/drawingml/2006/main">
            <a:r>
              <a:t>- Repository: backend/ai/dataset_collector.py</a:t>
            </a:r>
          </a:p>
          <a:p xmlns:a="http://schemas.openxmlformats.org/drawingml/2006/main">
            <a:r>
              <a:t>- Repository: tests/test_dataset_alignment_v13.py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backend/pipeline.py</a:t>
            </a:r>
          </a:p>
          <a:p xmlns:a="http://schemas.openxmlformats.org/drawingml/2006/main">
            <a:r>
              <a:t>- Repository: backend/server.py</a:t>
            </a:r>
          </a:p>
          <a:p xmlns:a="http://schemas.openxmlformats.org/drawingml/2006/main">
            <a:r>
              <a:t>- Repository: backend/ai/detector.py and backend/ai/ocr_worker.py</a:t>
            </a:r>
          </a:p>
          <a:p xmlns:a="http://schemas.openxmlformats.org/drawingml/2006/main">
            <a:r>
              <a:t>- Repository: backend/database/db.py</a:t>
            </a:r>
          </a:p>
          <a:p xmlns:a="http://schemas.openxmlformats.org/drawingml/2006/main">
            <a:r>
              <a:t>- Repository: frontend/templates and frontend/static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backend/database/db.py</a:t>
            </a:r>
          </a:p>
          <a:p xmlns:a="http://schemas.openxmlformats.org/drawingml/2006/main">
            <a:r>
              <a:t>- Repository: backend/database/ocr_v121_db.py</a:t>
            </a:r>
          </a:p>
          <a:p xmlns:a="http://schemas.openxmlformats.org/drawingml/2006/main">
            <a:r>
              <a:t>- Repository: migrations/v1_2_1_ocr_evidence.sql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frontend/templates/dashboard.html</a:t>
            </a:r>
          </a:p>
          <a:p xmlns:a="http://schemas.openxmlformats.org/drawingml/2006/main">
            <a:r>
              <a:t>- Repository: frontend/templates/history.html</a:t>
            </a:r>
          </a:p>
          <a:p xmlns:a="http://schemas.openxmlformats.org/drawingml/2006/main">
            <a:r>
              <a:t>- Repository: frontend/templates/logs.html, system.html, settings.html</a:t>
            </a:r>
          </a:p>
          <a:p xmlns:a="http://schemas.openxmlformats.org/drawingml/2006/main">
            <a:r>
              <a:t>- Repository: backend/server.py</a:t>
            </a:r>
          </a:p>
          <a:p xmlns:a="http://schemas.openxmlformats.org/drawingml/2006/main">
            <a:r>
              <a:t>- Repository: frontend/static/js/dashboard.js and history.js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CHANGELOG.md</a:t>
            </a:r>
          </a:p>
          <a:p xmlns:a="http://schemas.openxmlformats.org/drawingml/2006/main">
            <a:r>
              <a:t>- Repository: docs/FAILURE_EVIDENCE.md</a:t>
            </a:r>
          </a:p>
          <a:p xmlns:a="http://schemas.openxmlformats.org/drawingml/2006/main">
            <a:r>
              <a:t>- Repository: docs/PRODUCTION_OBSERVATION.md</a:t>
            </a:r>
          </a:p>
          <a:p xmlns:a="http://schemas.openxmlformats.org/drawingml/2006/main">
            <a:r>
              <a:t>- Repository: backend/ai/ocr_retry_guard.py</a:t>
            </a:r>
          </a:p>
          <a:p xmlns:a="http://schemas.openxmlformats.org/drawingml/2006/main">
            <a:r>
              <a:t>- Repository: backend/plc/edge_audit.py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run.py</a:t>
            </a:r>
          </a:p>
          <a:p xmlns:a="http://schemas.openxmlformats.org/drawingml/2006/main">
            <a:r>
              <a:t>- Repository: backend/ and frontend/</a:t>
            </a:r>
          </a:p>
          <a:p xmlns:a="http://schemas.openxmlformats.org/drawingml/2006/main">
            <a:r>
              <a:t>- Repository: reports/SYSTEM_DISCOVERY_REPORT.md</a:t>
            </a:r>
          </a:p>
          <a:p xmlns:a="http://schemas.openxmlformats.org/drawingml/2006/main">
            <a:r>
              <a:t>- Repository: reports/CODE_ARCHITECTURE_ANALYSIS.md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reports/CODE_ARCHITECTURE_ANALYSIS.md</a:t>
            </a:r>
          </a:p>
          <a:p xmlns:a="http://schemas.openxmlformats.org/drawingml/2006/main">
            <a:r>
              <a:t>- Repository: reports/HARDWARE_CAPABILITY_REPORT.md</a:t>
            </a:r>
          </a:p>
          <a:p xmlns:a="http://schemas.openxmlformats.org/drawingml/2006/main">
            <a:r>
              <a:t>- Repository: reports/FINAL_RELEASE_CONSOLIDATION_REPORT.md</a:t>
            </a:r>
          </a:p>
          <a:p xmlns:a="http://schemas.openxmlformats.org/drawingml/2006/main">
            <a:r>
              <a:t>- Repository: docs/PRODUCTION_OBSERVATION.md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reports/HARDWARE_CAPABILITY_REPORT.md (live validation checklist)</a:t>
            </a:r>
          </a:p>
          <a:p xmlns:a="http://schemas.openxmlformats.org/drawingml/2006/main">
            <a:r>
              <a:t>- Repository: reports/FINAL_RELEASE_CONSOLIDATION_REPORT.md</a:t>
            </a:r>
          </a:p>
          <a:p xmlns:a="http://schemas.openxmlformats.org/drawingml/2006/main">
            <a:r>
              <a:t>- Repository: docs/HIL_PRODUCTION_VALIDATION_PLAN.md</a:t>
            </a:r>
          </a:p>
          <a:p xmlns:a="http://schemas.openxmlformats.org/drawingml/2006/main">
            <a:r>
              <a:t>- Repository: docs/PRODUCTION_OBSERVATION.md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reports/CODE_ARCHITECTURE_ANALYSIS.md</a:t>
            </a:r>
          </a:p>
          <a:p xmlns:a="http://schemas.openxmlformats.org/drawingml/2006/main">
            <a:r>
              <a:t>- Repository: reports/HARDWARE_CAPABILITY_REPORT.md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6b2db922f45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05237c3744b2a" /><Relationship Type="http://schemas.openxmlformats.org/officeDocument/2006/relationships/slideLayout" Target="/ppt/slideLayouts/slideLayout1.xml" Id="Rc0a21f893a524d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a21f893a524d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9ed335bb5417a" /><Relationship Type="http://schemas.openxmlformats.org/officeDocument/2006/relationships/image" Target="/ppt/media/image.png" Id="R29cd6e429e7a45ab" /><Relationship Type="http://schemas.openxmlformats.org/officeDocument/2006/relationships/notesSlide" Target="/ppt/notesSlides/notesSlide1.xml" Id="R0f1e6da6402a4e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7c57e23764a23" /><Relationship Type="http://schemas.openxmlformats.org/officeDocument/2006/relationships/notesSlide" Target="/ppt/notesSlides/notesSlide2.xml" Id="Red471dd0bd134e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d2e8812bf4c1f" /><Relationship Type="http://schemas.openxmlformats.org/officeDocument/2006/relationships/notesSlide" Target="/ppt/notesSlides/notesSlide3.xml" Id="Rde57c3a56e6246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75be5e6774369" /><Relationship Type="http://schemas.openxmlformats.org/officeDocument/2006/relationships/notesSlide" Target="/ppt/notesSlides/notesSlide4.xml" Id="Rd7adad215b2c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91b39b6a4499b" /><Relationship Type="http://schemas.openxmlformats.org/officeDocument/2006/relationships/notesSlide" Target="/ppt/notesSlides/notesSlide5.xml" Id="Rc8dd3c20361240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611c0dbfc46eb" /><Relationship Type="http://schemas.openxmlformats.org/officeDocument/2006/relationships/notesSlide" Target="/ppt/notesSlides/notesSlide6.xml" Id="R66a036d8094347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1df5cc83b44e7" /><Relationship Type="http://schemas.openxmlformats.org/officeDocument/2006/relationships/notesSlide" Target="/ppt/notesSlides/notesSlide7.xml" Id="Rb9acfe848a4b4a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399d87eb747dc" /><Relationship Type="http://schemas.openxmlformats.org/officeDocument/2006/relationships/notesSlide" Target="/ppt/notesSlides/notesSlide8.xml" Id="Re10bbae56bae40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db8df1f844901" /><Relationship Type="http://schemas.openxmlformats.org/officeDocument/2006/relationships/notesSlide" Target="/ppt/notesSlides/notesSlide9.xml" Id="Ra8de5d7fa16146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aa44084194299" /><Relationship Type="http://schemas.openxmlformats.org/officeDocument/2006/relationships/notesSlide" Target="/ppt/notesSlides/notesSlide10.xml" Id="Rb99b7dc6c00e4a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3cbd9374145fb" /><Relationship Type="http://schemas.openxmlformats.org/officeDocument/2006/relationships/notesSlide" Target="/ppt/notesSlides/notesSlide11.xml" Id="Rdec42c334b6d48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137582745411e" /><Relationship Type="http://schemas.openxmlformats.org/officeDocument/2006/relationships/notesSlide" Target="/ppt/notesSlides/notesSlide12.xml" Id="R1da36b5dd3074e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4bc86e2bd4baf" /><Relationship Type="http://schemas.openxmlformats.org/officeDocument/2006/relationships/notesSlide" Target="/ppt/notesSlides/notesSlide13.xml" Id="Rbb36913228754e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bc261e84b4874" /><Relationship Type="http://schemas.openxmlformats.org/officeDocument/2006/relationships/notesSlide" Target="/ppt/notesSlides/notesSlide14.xml" Id="R88a0a56d4ea544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78965056840fc" /><Relationship Type="http://schemas.openxmlformats.org/officeDocument/2006/relationships/notesSlide" Target="/ppt/notesSlides/notesSlide15.xml" Id="R82e091dabe4649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6353bac8441e0" /><Relationship Type="http://schemas.openxmlformats.org/officeDocument/2006/relationships/notesSlide" Target="/ppt/notesSlides/notesSlide16.xml" Id="R1cf81cef32ac4a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a12e671934743" /><Relationship Type="http://schemas.openxmlformats.org/officeDocument/2006/relationships/notesSlide" Target="/ppt/notesSlides/notesSlide17.xml" Id="R72b886f916b648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d6792afe74096" /><Relationship Type="http://schemas.openxmlformats.org/officeDocument/2006/relationships/notesSlide" Target="/ppt/notesSlides/notesSlide18.xml" Id="Rc74fe9edd9cf43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d6e429e7a45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F713A-0E83-4F86-AB96-57B2BCF5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gradFill xmlns:a="http://schemas.openxmlformats.org/drawingml/2006/main">
            <a:gsLst>
              <a:gs pos="0">
                <a:srgbClr val="030812">
                  <a:alpha val="97000"/>
                </a:srgbClr>
              </a:gs>
              <a:gs pos="38000">
                <a:srgbClr val="030812">
                  <a:alpha val="72000"/>
                </a:srgbClr>
              </a:gs>
              <a:gs pos="78000">
                <a:srgbClr val="030812">
                  <a:alpha val="4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244AB-138C-450E-A775-1A0C0DD6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704850"/>
            <a:ext cx="2667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D9FF">
              <a:alpha val="12000"/>
            </a:srgbClr>
          </a:solidFill>
          <a:ln xmlns:a="http://schemas.openxmlformats.org/drawingml/2006/main" w="9525">
            <a:solidFill>
              <a:srgbClr val="16D9FF">
                <a:alpha val="55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06502-F1B1-4EE9-B61D-A6099F18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714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D9FF"/>
                </a:solidFill>
              </a:defRPr>
            </a:pPr>
            <a:r>
              <a:rPr sz="9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STATION 509 · ENGINEERING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8DA4B-A652-4B38-AB70-D2347E48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4097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AFF"/>
                </a:solidFill>
              </a:defRPr>
            </a:pPr>
            <a:r>
              <a:rPr sz="4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AI_CAM v1.2.1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E4D06-3F68-4FBE-B374-CD5F2A61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114550"/>
            <a:ext cx="561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AFF"/>
                </a:solidFill>
              </a:defRPr>
            </a:pPr>
            <a:r>
              <a:rPr sz="4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Production</a:t>
            </a:r>
          </a:p>
          <a:p xmlns:a="http://schemas.openxmlformats.org/drawingml/2006/main">
            <a:pPr algn="l">
              <a:defRPr sz="4350" b="1">
                <a:solidFill>
                  <a:srgbClr val="F4FAFF"/>
                </a:solidFill>
              </a:defRPr>
            </a:pPr>
            <a:r>
              <a:rPr sz="4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Stabilization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DA1C0-CF1D-42A9-9A19-4151706E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7528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DEFFF"/>
                </a:solidFill>
              </a:defRPr>
            </a:pPr>
            <a:r>
              <a:rPr sz="17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Industrial AI VIN Reading &amp; Traceability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57CA2-982A-4228-90A7-8BF0086B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D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40AE6-10F6-452C-9C49-915BA6D1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4914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One trigger. One body-cycle. One auditable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BFBBF-D8FA-43DE-B552-044F59A8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61912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0A4B8"/>
                </a:solidFill>
              </a:defRPr>
            </a:pPr>
            <a:r>
              <a:rPr sz="900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DOCUMENTATION PACKAGE · 29 JULY 2026</a:t>
            </a:r>
          </a:p>
        </p:txBody>
      </p:sp>
    </p:spTree>
    <p:extLst>
      <p:ext uri="{BB962C8B-B14F-4D97-AF65-F5344CB8AC3E}">
        <p14:creationId xmlns:p14="http://schemas.microsoft.com/office/powerpoint/2010/main" val="1548695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04297-37A8-4A1C-9255-F7125B84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07DB6-8DE8-47C3-9046-933E9EA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6A02B-D907-4EFC-8194-6BE63E00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8F047-0CBB-4598-9C5F-31055145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WHY AI_CAM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DDD61-7FC8-44A1-9F2E-7D35ED75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A single body produces multiple identity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C924D-CF55-4D43-AA40-0739DF80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The production risk is not missing data—it is losing the relationship between signals.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0CA59-F37A-406D-B17D-CF7216A9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93F14-21A9-46F2-875E-BCE69E5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86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A27A2-F699-4E19-A595-768FA5B3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95525"/>
            <a:ext cx="72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84D"/>
                </a:solidFill>
              </a:defRPr>
            </a:pPr>
            <a:r>
              <a:rPr sz="10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PLC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B36E8-8F18-4C9C-A8D6-E00C9719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343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arrival pulse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FE0FE-0D7E-4BCA-A065-34C6C459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6955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defines the 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2C6B3-5D72-44FF-A689-B29024C8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409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94770-ACE4-45C2-90BF-9B1E6D0F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419475"/>
            <a:ext cx="72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D256E-2CA5-48D0-B224-F7638A37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467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engraved VIN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2A8DC-5125-4488-A05C-2CB7AB0B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819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reads physical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EC582-BE57-4AFE-98C7-8A2179BE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339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05185-CE9F-428F-9146-9F8BE406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543425"/>
            <a:ext cx="72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7FF"/>
                </a:solidFill>
              </a:defRPr>
            </a:pPr>
            <a:r>
              <a:rPr sz="1050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RFID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9F800-C377-4912-B808-F37C3452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59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electronic EPC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A2E10-51CE-42A9-BB19-3645005A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9434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reads tag 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A57F3-EA62-4A71-9A83-9E2FC88B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405A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D30B6-7208-458F-BB2F-A771D068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247900"/>
            <a:ext cx="6381750" cy="3143250"/>
          </a:xfrm>
          <a:prstGeom xmlns:a="http://schemas.openxmlformats.org/drawingml/2006/main" prst="roundRect">
            <a:avLst>
              <a:gd name="adj" fmla="val 3636"/>
            </a:avLst>
          </a:prstGeom>
          <a:gradFill xmlns:a="http://schemas.openxmlformats.org/drawingml/2006/main">
            <a:gsLst>
              <a:gs pos="0">
                <a:srgbClr val="0D2034"/>
              </a:gs>
              <a:gs pos="100000">
                <a:srgbClr val="0A1524"/>
              </a:gs>
            </a:gsLst>
            <a:lin ang="8100000"/>
          </a:gradFill>
          <a:ln xmlns:a="http://schemas.openxmlformats.org/drawingml/2006/main" w="14288">
            <a:solidFill>
              <a:srgbClr val="26789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76F7F-A0D1-4F56-A698-CFF556AE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257175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E6A8">
              <a:alpha val="12000"/>
            </a:srgbClr>
          </a:solidFill>
          <a:ln xmlns:a="http://schemas.openxmlformats.org/drawingml/2006/main" w="9525">
            <a:solidFill>
              <a:srgbClr val="46E6A8">
                <a:alpha val="5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684AB-99B4-46EB-B1F7-10815F38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25812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6E6A8"/>
                </a:solidFill>
              </a:defRPr>
            </a:pPr>
            <a:r>
              <a:rPr sz="9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AI_CAM OPERATING 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8EB0B-E0E8-46E8-A6CD-51A808C1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3048000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AFF"/>
                </a:solidFill>
              </a:defRPr>
            </a:pPr>
            <a:r>
              <a:rPr sz="29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One body-cycle</a:t>
            </a:r>
          </a:p>
          <a:p xmlns:a="http://schemas.openxmlformats.org/drawingml/2006/main">
            <a:pPr algn="l">
              <a:defRPr sz="2925" b="1">
                <a:solidFill>
                  <a:srgbClr val="F4FAFF"/>
                </a:solidFill>
              </a:defRPr>
            </a:pPr>
            <a:r>
              <a:rPr sz="29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owns every result.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1F040-0D41-4D4E-880C-60A84D41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424815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DEFFF"/>
                </a:solidFill>
              </a:defRPr>
            </a:pPr>
            <a:r>
              <a:rPr sz="15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The session binds trigger, camera frames, YOLO crops, OCR evidence, RFID events, final status, and stored evidence before anything is persisted.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68F9D-58B1-44AA-9739-A51A906C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27813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4AC80D-5AC0-417B-B2BD-6FCC2818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32289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accepted trigger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AAE1E-CC58-4B1D-9F67-AA08EC50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36766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D9FF"/>
                </a:solidFill>
              </a:defRPr>
            </a:pPr>
            <a:r>
              <a:rPr sz="25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66FE26-41B8-4B63-AA83-C2DFD622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41243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body-cycle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3F5B7-5E3A-4119-AA8B-BEDE8AB1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45720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6E6A8"/>
                </a:solidFill>
              </a:defRPr>
            </a:pPr>
            <a:r>
              <a:rPr sz="25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8719EA-BF4B-4883-9E9D-9951EBFB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50196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final row</a:t>
            </a:r>
          </a:p>
        </p:txBody>
      </p:sp>
    </p:spTree>
    <p:extLst>
      <p:ext uri="{BB962C8B-B14F-4D97-AF65-F5344CB8AC3E}">
        <p14:creationId xmlns:p14="http://schemas.microsoft.com/office/powerpoint/2010/main" val="1785122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ECDE0E-025C-44AD-BBBC-49BB0118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134F-DA99-42D4-B28A-B7BC4E1F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44872-C589-4D5B-937F-A5EDA825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98EBF-FB80-4274-A7F0-FA47CE28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END-TO-END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6868D-FF8B-4BD0-8928-700AE3C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Every body follows one deterministic evidence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95298-C27A-4A10-B9D7-E30A73D6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Camera and RFID start in parallel; the session closes only once.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90FDD-3EFA-4FFB-9FC8-736E76A5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C2871-648F-4D9B-86D1-C63448FE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0099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8D1DA-F2B3-4B9C-874E-CF85B6F5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019425"/>
            <a:ext cx="838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D2222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E0A84-8253-4351-B4B8-63D37356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905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0A4B8"/>
                </a:solidFill>
              </a:defRPr>
            </a:pPr>
            <a:r>
              <a:rPr sz="900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ARRIVAL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FEDA7-DD33-490A-9DC4-6C5D4423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2647950"/>
            <a:ext cx="16764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F8764-88BE-404B-91A8-0137BB87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8765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D9FF"/>
                </a:solidFill>
              </a:defRPr>
            </a:pPr>
            <a:r>
              <a:rPr sz="12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7E693-80DB-48C7-A1CD-89B42880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3295650"/>
            <a:ext cx="129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open owner</a:t>
            </a:r>
          </a:p>
          <a:p xmlns:a="http://schemas.openxmlformats.org/drawingml/2006/main">
            <a:pPr algn="ctr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start 30 s deadline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51B54-C775-4303-AB87-CF916730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2095500"/>
            <a:ext cx="19621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16D9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A88BF-2483-46BA-BE45-A75482A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D9FF"/>
                </a:solidFill>
              </a:defRPr>
            </a:pPr>
            <a:r>
              <a:rPr sz="127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CAMERA → YOLO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7E6DD-5F08-4D63-A523-4BE7BB7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2686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stable VIN crop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209B2-5B1C-4C91-9A31-E1246286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3714750"/>
            <a:ext cx="19621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258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C6668-44CF-46D0-A40C-A1D03703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3924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A9FF"/>
                </a:solidFill>
              </a:defRPr>
            </a:pPr>
            <a:r>
              <a:rPr sz="1275" b="1">
                <a:solidFill>
                  <a:srgbClr val="70A9FF"/>
                </a:solidFill>
                <a:latin typeface="Aptos"/>
                <a:ea typeface="Aptos"/>
                <a:cs typeface="Aptos"/>
              </a:rPr>
              <a:t>RFID INVENTORY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8CC91-1E00-4D5D-8ED3-4F58748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43053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session EPC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F0D79-BE29-4391-AD9D-4C8C7D4A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095500"/>
            <a:ext cx="2000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62E15-8BDF-4299-837E-CFB572C2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305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D9FF"/>
                </a:solidFill>
              </a:defRPr>
            </a:pPr>
            <a:r>
              <a:rPr sz="127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3 OCR VIEWS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F7668-BDB8-4555-B37F-F6315527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686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validate / preserve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B37BA-66B6-4DAF-B443-B0F99103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714750"/>
            <a:ext cx="2000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23BD0-1F26-48CB-B7A6-728B3508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924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6E6A8"/>
                </a:solidFill>
              </a:defRPr>
            </a:pPr>
            <a:r>
              <a:rPr sz="127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SESSION BINDING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1E732-B285-4345-8B98-64B0CBC9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43053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VIN + EPC +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3DFB2-07D5-49F8-BB32-F29A1BC0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647950"/>
            <a:ext cx="1924050" cy="1543050"/>
          </a:xfrm>
          <a:prstGeom xmlns:a="http://schemas.openxmlformats.org/drawingml/2006/main" prst="roundRect">
            <a:avLst>
              <a:gd name="adj" fmla="val 7407"/>
            </a:avLst>
          </a:prstGeom>
          <a:gradFill xmlns:a="http://schemas.openxmlformats.org/drawingml/2006/main">
            <a:gsLst>
              <a:gs pos="0">
                <a:srgbClr val="0F2B35"/>
              </a:gs>
              <a:gs pos="100000">
                <a:srgbClr val="0A1826"/>
              </a:gs>
            </a:gsLst>
            <a:lin ang="8100000"/>
          </a:gra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8EA6D-7976-4685-B2B9-2EAE8556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28765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6E6A8"/>
                </a:solidFill>
              </a:defRPr>
            </a:pPr>
            <a:r>
              <a:rPr sz="127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FINALIZE ONCE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2015B-0621-465C-B3BF-2E515F45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3276600"/>
            <a:ext cx="1466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SQLite row</a:t>
            </a:r>
          </a:p>
          <a:p xmlns:a="http://schemas.openxmlformats.org/drawingml/2006/main">
            <a:pPr algn="ctr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Dashboard</a:t>
            </a:r>
          </a:p>
          <a:p xmlns:a="http://schemas.openxmlformats.org/drawingml/2006/main">
            <a:pPr algn="ctr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Logs + evidence</a:t>
            </a:r>
          </a:p>
        </p:txBody>
      </p:sp>
      <p:cxnSp>
        <p:nvCxnSpPr>
          <p:cNvPr id="64" name=""/>
          <p:cNvCxnSpPr>
            <a:stCxn xmlns:a="http://schemas.openxmlformats.org/drawingml/2006/main" id="8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466850" y="3419475"/>
            <a:ext cx="495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4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638550" y="2619375"/>
            <a:ext cx="68580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638550" y="3419475"/>
            <a:ext cx="68580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286500" y="2619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286500" y="4238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953375" y="31432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8953500" y="3419475"/>
            <a:ext cx="66675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453071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E4E74D-307F-476F-BDFB-A573F7E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63B16-4CBF-48B4-B780-1E1DAE0C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C2167-23C6-4EE8-BF3D-B2BE07D4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1DC91-34D6-4332-9F54-F21059AE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BODY-CYCLE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494A7-8913-4569-97E5-5813099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The PLC pulse is a boundary—not just a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4935B-02D6-44F0-A4EF-AADDD913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Debounce and suppression protect the one-body / one-record invariant.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37F81-CC40-4639-95A8-C2DF60C3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C0A44-1CC1-42B7-9E09-D5992AED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A4072-4E14-4518-A794-789CB88B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6E6A8"/>
                </a:solidFill>
              </a:defRPr>
            </a:pPr>
            <a:r>
              <a:rPr sz="142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ARMED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D7372-29C6-40E7-9D6E-A4792372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2861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zero observed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16549-F0B1-46E7-9C7B-07767BE6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A6A91-1311-4829-885B-48145120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B84D"/>
                </a:solidFill>
              </a:defRPr>
            </a:pPr>
            <a:r>
              <a:rPr sz="14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DEBOUNCE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4ECF6-ED99-4185-AD07-EAE2D57C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2861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stable high ≥ 200 ms</a:t>
            </a:r>
          </a:p>
        </p:txBody>
      </p: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266950" y="3248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4D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5D8E5-54DC-4AC8-A89F-CB15935F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4B049-A4AF-4796-AB46-7D46EABD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D9FF"/>
                </a:solidFill>
              </a:defRPr>
            </a:pPr>
            <a:r>
              <a:rPr sz="142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C47F7-305D-444B-9221-2B81EEDE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32861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session owns capture</a:t>
            </a:r>
          </a:p>
        </p:txBody>
      </p: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457700" y="3248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9785E-483E-44A9-867D-F83A1B91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E6782C-B64C-49B7-A073-CE1C0B4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87FF"/>
                </a:solidFill>
              </a:defRPr>
            </a:pPr>
            <a:r>
              <a:rPr sz="1425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FINALIZE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5C1EB-CCF5-4CAA-B8FE-23F9E836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32861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result or deadline</a:t>
            </a:r>
          </a:p>
        </p:txBody>
      </p:sp>
      <p:cxnSp>
        <p:nvCxnSpPr>
          <p:cNvPr id="57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648450" y="3248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98D3C-01E2-49E5-90E2-C6F4BF97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2667000"/>
            <a:ext cx="1619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8CFA3-2F73-4036-9169-0678984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6E6A8"/>
                </a:solidFill>
              </a:defRPr>
            </a:pPr>
            <a:r>
              <a:rPr sz="142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7B16A-8326-45AE-8573-04ECB1C7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2861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one row updated</a:t>
            </a:r>
          </a:p>
        </p:txBody>
      </p:sp>
      <p:cxnSp>
        <p:nvCxnSpPr>
          <p:cNvPr id="6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39200" y="3248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C2BF7-1E07-47A6-9A17-EAE2F4C6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4572000"/>
            <a:ext cx="6896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B1523"/>
          </a:solidFill>
          <a:ln xmlns:a="http://schemas.openxmlformats.org/drawingml/2006/main" w="9525">
            <a:solidFill>
              <a:srgbClr val="344E63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11830D-2A8C-4281-98A9-84850D2B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819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Triggers received while ACTIVE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A0802-F575-4BC7-8D24-93F04C4A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4772025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>
              <a:alpha val="12000"/>
            </a:srgbClr>
          </a:solidFill>
          <a:ln xmlns:a="http://schemas.openxmlformats.org/drawingml/2006/main" w="9525">
            <a:solidFill>
              <a:srgbClr val="FF6B6B">
                <a:alpha val="5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56E49-4498-433B-8A3D-51CF3BF3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47815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DUPLICATE IGNORED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B822A-386B-49A8-9D37-25CD6EC0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4772025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>
              <a:alpha val="12000"/>
            </a:srgbClr>
          </a:solidFill>
          <a:ln xmlns:a="http://schemas.openxmlformats.org/drawingml/2006/main" w="9525">
            <a:solidFill>
              <a:srgbClr val="FFB84D">
                <a:alpha val="5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FB219A-32DB-4D74-A65C-FC048347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47815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84D"/>
                </a:solidFill>
              </a:defRPr>
            </a:pPr>
            <a:r>
              <a:rPr sz="9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EARLY TRIGGER AUDITED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FB7170-1703-4ACC-97B0-0227377C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52387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0A4B8"/>
                </a:solidFill>
              </a:defRPr>
            </a:pPr>
            <a:r>
              <a:rPr sz="1200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Production queueing is disabled. The next body must rearm through zero and satisfy the minimum interval.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58F961-CADB-4A65-8538-57EDFE64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672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90 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122C9C-EE7E-4A92-8098-279C728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14925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minimum body interval</a:t>
            </a:r>
          </a:p>
        </p:txBody>
      </p:sp>
    </p:spTree>
    <p:extLst>
      <p:ext uri="{BB962C8B-B14F-4D97-AF65-F5344CB8AC3E}">
        <p14:creationId xmlns:p14="http://schemas.microsoft.com/office/powerpoint/2010/main" val="1017518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B16A97-6FB8-418C-9D9F-D2DCC662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5D30B-E691-46C9-BD45-C3E69931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165A9-0025-43FB-AD74-CB54334F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3D334-D058-4A19-95DE-F8E6D4B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HARDWARE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11DF0-8047-453F-9ADE-27AF09DC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Four hardware layers anchor the system in the cell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63DC6-7638-4E01-ABF3-18ECA128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Exact ordering variants and the installed GPU SKU still require commissioning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2FA3C-CEDA-402F-98B9-54CBD8CD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85C92-76A5-4D3E-84AA-50CE6430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209800"/>
            <a:ext cx="2362200" cy="33337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7121E"/>
          </a:solidFill>
          <a:ln xmlns:a="http://schemas.openxmlformats.org/drawingml/2006/main" w="9525">
            <a:solidFill>
              <a:srgbClr val="16D9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5912D-D153-4D4B-9EF2-49610616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095500"/>
            <a:ext cx="2362200" cy="3333750"/>
          </a:xfrm>
          <a:prstGeom xmlns:a="http://schemas.openxmlformats.org/drawingml/2006/main" prst="roundRect">
            <a:avLst>
              <a:gd name="adj" fmla="val 4839"/>
            </a:avLst>
          </a:prstGeom>
          <a:gradFill xmlns:a="http://schemas.openxmlformats.org/drawingml/2006/main">
            <a:gsLst>
              <a:gs pos="0">
                <a:srgbClr val="10243A"/>
              </a:gs>
              <a:gs pos="100000">
                <a:srgbClr val="091522"/>
              </a:gs>
            </a:gsLst>
            <a:lin ang="8700000"/>
          </a:gradFill>
          <a:ln xmlns:a="http://schemas.openxmlformats.org/drawingml/2006/main" w="14288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CA375-E8D8-45F3-AFB1-A759B5B5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3431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90CE6-012C-43F0-A632-126F294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352675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D9FF"/>
                </a:solidFill>
              </a:defRPr>
            </a:pPr>
            <a:r>
              <a:rPr sz="97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SICK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4FBE5-AB05-48D5-A700-6D8DDEB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4003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D9FF"/>
                </a:solidFill>
              </a:defRPr>
            </a:pPr>
            <a:r>
              <a:rPr sz="9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INDUSTRIAL 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DC246-89C4-4A09-82D6-1275168D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105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AFF"/>
                </a:solidFill>
              </a:defRPr>
            </a:pPr>
            <a:r>
              <a:rPr sz="18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SICK Lector 652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D8C7E-641A-4D36-A8B1-3C1B8AEB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D9FF">
                <a:alpha val="4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7276E-A427-4BAA-B511-A9AE07A7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0005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EFFF"/>
                </a:solidFill>
              </a:defRPr>
            </a:pPr>
            <a:r>
              <a:rPr sz="1275" b="1">
                <a:solidFill>
                  <a:srgbClr val="BDEFFF"/>
                </a:solidFill>
                <a:latin typeface="Aptos"/>
                <a:ea typeface="Aptos"/>
                <a:cs typeface="Aptos"/>
              </a:rPr>
              <a:t>2.1 MP · 2048×1088 · up to 70 Hz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E7E03-0017-4D1E-9781-68A9423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GigE / IP65 family</a:t>
            </a:r>
          </a:p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CoLa 2111 + project BLOB 2113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A938D-5A32-4864-B96A-E35BD727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209800"/>
            <a:ext cx="2362200" cy="33337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7121E"/>
          </a:solidFill>
          <a:ln xmlns:a="http://schemas.openxmlformats.org/drawingml/2006/main" w="9525">
            <a:solidFill>
              <a:srgbClr val="FFB84D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0FF83-58D0-4700-A414-F833CB16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2095500"/>
            <a:ext cx="2362200" cy="3333750"/>
          </a:xfrm>
          <a:prstGeom xmlns:a="http://schemas.openxmlformats.org/drawingml/2006/main" prst="roundRect">
            <a:avLst>
              <a:gd name="adj" fmla="val 4839"/>
            </a:avLst>
          </a:prstGeom>
          <a:gradFill xmlns:a="http://schemas.openxmlformats.org/drawingml/2006/main">
            <a:gsLst>
              <a:gs pos="0">
                <a:srgbClr val="10243A"/>
              </a:gs>
              <a:gs pos="100000">
                <a:srgbClr val="091522"/>
              </a:gs>
            </a:gsLst>
            <a:lin ang="8700000"/>
          </a:gradFill>
          <a:ln xmlns:a="http://schemas.openxmlformats.org/drawingml/2006/main" w="14288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B8583-3B66-46FF-B32C-029E9DC2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23431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9DDCC-2545-440B-9ABE-B934EAF0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2352675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84D"/>
                </a:solidFill>
              </a:defRPr>
            </a:pPr>
            <a:r>
              <a:rPr sz="9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MELS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3F9F4-0BE7-47D0-9A46-5EA5233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4003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84D"/>
                </a:solidFill>
              </a:defRPr>
            </a:pPr>
            <a:r>
              <a:rPr sz="9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LINE CONTROLLER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5A8CF-7EF5-4200-81EB-B5AFFB8D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3105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AFF"/>
                </a:solidFill>
              </a:defRPr>
            </a:pPr>
            <a:r>
              <a:rPr sz="18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MELSEC-Q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5E1F5-4478-436B-9A0F-FFECEA1B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719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B84D">
                <a:alpha val="4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97F4E-A551-40E2-A587-58BF7BDA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40005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EFFF"/>
                </a:solidFill>
              </a:defRPr>
            </a:pPr>
            <a:r>
              <a:rPr sz="1275" b="1">
                <a:solidFill>
                  <a:srgbClr val="BDEFFF"/>
                </a:solidFill>
                <a:latin typeface="Aptos"/>
                <a:ea typeface="Aptos"/>
                <a:cs typeface="Aptos"/>
              </a:rPr>
              <a:t>MC protocol · D register · 3E frame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6D381A-5519-47AC-B5D4-A2CD9C97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D2222 bit 0</a:t>
            </a:r>
          </a:p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100 ms polling / 200 ms debounce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3C16E-0EFF-41C9-97BB-A8CF05BA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2209800"/>
            <a:ext cx="2362200" cy="33337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7121E"/>
          </a:solidFill>
          <a:ln xmlns:a="http://schemas.openxmlformats.org/drawingml/2006/main" w="9525">
            <a:solidFill>
              <a:srgbClr val="2587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81AFA8-FA3A-47C0-8CA9-5303E0A8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2095500"/>
            <a:ext cx="2362200" cy="3333750"/>
          </a:xfrm>
          <a:prstGeom xmlns:a="http://schemas.openxmlformats.org/drawingml/2006/main" prst="roundRect">
            <a:avLst>
              <a:gd name="adj" fmla="val 4839"/>
            </a:avLst>
          </a:prstGeom>
          <a:gradFill xmlns:a="http://schemas.openxmlformats.org/drawingml/2006/main">
            <a:gsLst>
              <a:gs pos="0">
                <a:srgbClr val="10243A"/>
              </a:gs>
              <a:gs pos="100000">
                <a:srgbClr val="091522"/>
              </a:gs>
            </a:gsLst>
            <a:lin ang="8700000"/>
          </a:gradFill>
          <a:ln xmlns:a="http://schemas.openxmlformats.org/drawingml/2006/main" w="14288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7EF0C-E1AD-49FD-807A-DDE15E0A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23431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19050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39EF0-12BE-4515-A8E3-2A75D65F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2352675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87FF"/>
                </a:solidFill>
              </a:defRPr>
            </a:pPr>
            <a:r>
              <a:rPr sz="975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IMPI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0E1CAF-2FAE-4D65-BC1E-F652DD2B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24003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87FF"/>
                </a:solidFill>
              </a:defRPr>
            </a:pPr>
            <a:r>
              <a:rPr sz="900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RAIN RFID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295367-FE33-4A67-A393-E84DC134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3105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AFF"/>
                </a:solidFill>
              </a:defRPr>
            </a:pPr>
            <a:r>
              <a:rPr sz="18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Impinj R700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5E3E08-7E5B-435A-8F0A-E22EBC7C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87FF">
                <a:alpha val="45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500700-EB40-4FFE-B4E8-872188DD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40005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EFFF"/>
                </a:solidFill>
              </a:defRPr>
            </a:pPr>
            <a:r>
              <a:rPr sz="1275" b="1">
                <a:solidFill>
                  <a:srgbClr val="BDEFFF"/>
                </a:solidFill>
                <a:latin typeface="Aptos"/>
                <a:ea typeface="Aptos"/>
                <a:cs typeface="Aptos"/>
              </a:rPr>
              <a:t>4 ports · ISO 18000-63 · up to 1100 reads/s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9E7B1D-BC6A-4959-B0AD-FFF2684E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REST + HTTP stream</a:t>
            </a:r>
          </a:p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session-window RSSI selection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4AF448-9F64-4E77-B427-D44EAC67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2209800"/>
            <a:ext cx="2362200" cy="33337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7121E"/>
          </a:solidFill>
          <a:ln xmlns:a="http://schemas.openxmlformats.org/drawingml/2006/main" w="9525">
            <a:solidFill>
              <a:srgbClr val="46E6A8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4FAC67-9325-4BCE-B9BE-19CE1725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50" y="2095500"/>
            <a:ext cx="2362200" cy="3333750"/>
          </a:xfrm>
          <a:prstGeom xmlns:a="http://schemas.openxmlformats.org/drawingml/2006/main" prst="roundRect">
            <a:avLst>
              <a:gd name="adj" fmla="val 4839"/>
            </a:avLst>
          </a:prstGeom>
          <a:gradFill xmlns:a="http://schemas.openxmlformats.org/drawingml/2006/main">
            <a:gsLst>
              <a:gs pos="0">
                <a:srgbClr val="10243A"/>
              </a:gs>
              <a:gs pos="100000">
                <a:srgbClr val="091522"/>
              </a:gs>
            </a:gsLst>
            <a:lin ang="8700000"/>
          </a:gradFill>
          <a:ln xmlns:a="http://schemas.openxmlformats.org/drawingml/2006/main" w="14288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9A72F8-367E-459A-8C49-9E5B9A03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23431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AB6FEC-E10D-4111-8632-F1AF77BD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2352675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6E6A8"/>
                </a:solidFill>
              </a:defRPr>
            </a:pPr>
            <a:r>
              <a:rPr sz="97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NVID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DCCA2C-A1DF-4137-BED3-176026FC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24003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E6A8"/>
                </a:solidFill>
              </a:defRPr>
            </a:pPr>
            <a:r>
              <a:rPr sz="9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EDGE INFERENCE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640411-3087-4FB0-84C2-8A9C6706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3105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AFF"/>
                </a:solidFill>
              </a:defRPr>
            </a:pPr>
            <a:r>
              <a:rPr sz="18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NVIDIA target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9F8437-D2BF-4779-9E41-20708729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719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E6A8">
                <a:alpha val="4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E46737-11A3-4123-AB34-C607F209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40005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EFFF"/>
                </a:solidFill>
              </a:defRPr>
            </a:pPr>
            <a:r>
              <a:rPr sz="1275" b="1">
                <a:solidFill>
                  <a:srgbClr val="BDEFFF"/>
                </a:solidFill>
                <a:latin typeface="Aptos"/>
                <a:ea typeface="Aptos"/>
                <a:cs typeface="Aptos"/>
              </a:rPr>
              <a:t>cuda:0 target · safe CPU fallback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CCA031-AFB0-40D1-8E46-FC4E818C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Installed model unresolved</a:t>
            </a:r>
          </a:p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Torch + Paddle probes required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223CC2-7715-4A7C-A5D7-D9F3F39F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59817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84D"/>
                </a:solidFill>
              </a:defRPr>
            </a:pPr>
            <a:r>
              <a:rPr sz="9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FAMILY-LEVEL CAPABILITIES · LIVE SKU / FIRMWARE / OPTICS / ANTENNAS / GPU TO BE CAPTURED ON SITE</a:t>
            </a:r>
          </a:p>
        </p:txBody>
      </p:sp>
    </p:spTree>
    <p:extLst>
      <p:ext uri="{BB962C8B-B14F-4D97-AF65-F5344CB8AC3E}">
        <p14:creationId xmlns:p14="http://schemas.microsoft.com/office/powerpoint/2010/main" val="1501650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543093-1AD6-45DE-A367-9D4916E9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8C062-F3A3-47D3-A6CE-CFAEC39E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91118-F5DF-4CC9-ADF9-D8AAFE0B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D9393-42B4-4A66-8B3A-CE3782A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VISION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98F9E-70C0-423F-9E24-6062D2A9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Vision starts by finding the right metal region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1538A-617C-415B-8AC8-ECB4EF93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A high-quality crop cannot bypass low detector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D2F52-89E6-4EF6-AE6E-0877997B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FEAB0-A05A-451B-9C87-8DDF744E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190750"/>
            <a:ext cx="3714750" cy="3048000"/>
          </a:xfrm>
          <a:prstGeom xmlns:a="http://schemas.openxmlformats.org/drawingml/2006/main" prst="roundRect">
            <a:avLst>
              <a:gd name="adj" fmla="val 3750"/>
            </a:avLst>
          </a:prstGeom>
          <a:gradFill xmlns:a="http://schemas.openxmlformats.org/drawingml/2006/main">
            <a:gsLst>
              <a:gs pos="0">
                <a:srgbClr val="0A1A29"/>
              </a:gs>
              <a:gs pos="100000">
                <a:srgbClr val="08111B"/>
              </a:gs>
            </a:gsLst>
            <a:lin ang="8700000"/>
          </a:gradFill>
          <a:ln xmlns:a="http://schemas.openxmlformats.org/drawingml/2006/main" w="9525">
            <a:solidFill>
              <a:srgbClr val="1E40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57F1F-FB65-4DCA-9563-274022ED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419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A4B8"/>
                </a:solidFill>
              </a:defRPr>
            </a:pPr>
            <a:r>
              <a:rPr sz="1050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DECODED 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289F1-2135-4F55-8BB1-76A6062C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876550"/>
            <a:ext cx="3067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231"/>
          </a:solidFill>
          <a:ln xmlns:a="http://schemas.openxmlformats.org/drawingml/2006/main" w="9525">
            <a:solidFill>
              <a:srgbClr val="355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2017B-A5E1-461A-BB89-72822D67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982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41421-7279-45DA-BE8A-E7D5F176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257550"/>
            <a:ext cx="14668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D3A">
              <a:alpha val="60000"/>
            </a:srgbClr>
          </a:solidFill>
          <a:ln xmlns:a="http://schemas.openxmlformats.org/drawingml/2006/main" w="28575">
            <a:solidFill>
              <a:srgbClr val="16D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89E3E-64D1-4EBB-9F2D-DAD6DDC3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3429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D9FF"/>
                </a:solidFill>
              </a:defRPr>
            </a:pPr>
            <a:r>
              <a:rPr sz="12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VIN 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DD474-7AF7-4EAA-9440-5928C545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5148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0A4B8"/>
                </a:solidFill>
              </a:defRPr>
            </a:pPr>
            <a:r>
              <a:rPr sz="1050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Illustrative schematic — no runtime images are packaged in this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9C499-9FBD-44C5-9979-8CA957C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133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9107A-958C-448E-B669-EEBD3B5E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1431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D9FF"/>
                </a:solidFill>
              </a:defRPr>
            </a:pPr>
            <a:r>
              <a:rPr sz="112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DC835-27E6-4476-8C57-7616EAD1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2143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SICK 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8EFD6-7316-4977-953E-3473500B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2495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CoLa control + BLOB payload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B5570-85C2-4A41-8D81-492116FB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57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A65E0-718F-4C5D-895E-BC702D42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563EE-26BE-4E89-8396-017B5507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30384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D9FF"/>
                </a:solidFill>
              </a:defRPr>
            </a:pPr>
            <a:r>
              <a:rPr sz="112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D9AE1-AFDD-4D54-AE24-79B3472F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30384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YOLO box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E1A23-CADB-48C5-8987-6F347974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3390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local models/yolo/best.pt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FD7ED-F844-4FEC-80CF-4C07CCF7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528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40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D428D-B631-4FCD-A898-31E857A7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B397C5-15E9-40DE-80DA-51548494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39338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D9FF"/>
                </a:solidFill>
              </a:defRPr>
            </a:pPr>
            <a:r>
              <a:rPr sz="112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A8C5E-0CC7-4582-BBD2-F3818FE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3933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Stable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DF13A-1B0F-4EB9-8B31-276D2279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4286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multi-frame / IoU / quality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BC04B-AB09-43A4-A158-79CA6108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481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40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9AA791-825F-4F5C-8ED6-1201AF81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4819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D6ACE8-0A99-418E-B0A2-DCB20CEC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48291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6E6A8"/>
                </a:solidFill>
              </a:defRPr>
            </a:pPr>
            <a:r>
              <a:rPr sz="112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6CAF8C-33A9-4E24-BFAF-E190A573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4829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OCR submit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2027E-4235-41BE-B19E-8E6C29AB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5181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peak YOLO ≥ 0.90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A488F-41E1-4224-BF95-8AA68DC1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2514600"/>
            <a:ext cx="2324100" cy="2038350"/>
          </a:xfrm>
          <a:prstGeom xmlns:a="http://schemas.openxmlformats.org/drawingml/2006/main" prst="roundRect">
            <a:avLst>
              <a:gd name="adj" fmla="val 5607"/>
            </a:avLst>
          </a:prstGeom>
          <a:gradFill xmlns:a="http://schemas.openxmlformats.org/drawingml/2006/main">
            <a:gsLst>
              <a:gs pos="0">
                <a:srgbClr val="0D2B35"/>
              </a:gs>
              <a:gs pos="100000">
                <a:srgbClr val="091522"/>
              </a:gs>
            </a:gsLst>
            <a:lin ang="8700000"/>
          </a:gra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C58CFA-BC1F-40E8-8221-96F38F04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27813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E6A8"/>
                </a:solidFill>
              </a:defRPr>
            </a:pPr>
            <a:r>
              <a:rPr sz="12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STRICT 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E5A1B0-B402-4AFB-80F3-B4B2DFFB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3181350"/>
            <a:ext cx="1790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4FAFF"/>
                </a:solidFill>
              </a:defRPr>
            </a:pPr>
            <a:r>
              <a:rPr sz="390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78CFF6-4981-41DD-9E60-FDD41E9B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38862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minimum peak YOLO</a:t>
            </a:r>
          </a:p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confidence before OCR</a:t>
            </a:r>
          </a:p>
        </p:txBody>
      </p:sp>
    </p:spTree>
    <p:extLst>
      <p:ext uri="{BB962C8B-B14F-4D97-AF65-F5344CB8AC3E}">
        <p14:creationId xmlns:p14="http://schemas.microsoft.com/office/powerpoint/2010/main" val="17983808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C8CB6-FEE8-4529-898E-94A3B342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0C76A-A5F0-44B4-BA78-FF6EFE88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7AB4D-41A4-4E22-AEAC-AE2F0B66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4E4D-7FC3-4DD6-8178-DB327608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AI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169BB-8D59-46AA-9E62-71454EDE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Parallel OCR views expose single-model blind spots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9A75E-073D-4E06-B4D0-F9125C4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The production VIN comes from Paddle variant fusion; the three-engine stage preserves additional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E65E9-46D6-4D53-A865-EB6050D3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623DC-8469-44D3-8F8D-674EFFA3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2476500"/>
            <a:ext cx="2400300" cy="1733550"/>
          </a:xfrm>
          <a:prstGeom xmlns:a="http://schemas.openxmlformats.org/drawingml/2006/main" prst="roundRect">
            <a:avLst>
              <a:gd name="adj" fmla="val 6593"/>
            </a:avLst>
          </a:prstGeom>
          <a:gradFill xmlns:a="http://schemas.openxmlformats.org/drawingml/2006/main">
            <a:gsLst>
              <a:gs pos="0">
                <a:srgbClr val="123045"/>
              </a:gs>
              <a:gs pos="100000">
                <a:srgbClr val="0B1D2D"/>
              </a:gs>
            </a:gsLst>
            <a:lin ang="8700000"/>
          </a:gra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D90B5-B15D-4B1B-8404-6875ED0A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686050"/>
            <a:ext cx="1676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D9FF">
              <a:alpha val="12000"/>
            </a:srgbClr>
          </a:solidFill>
          <a:ln xmlns:a="http://schemas.openxmlformats.org/drawingml/2006/main" w="9525">
            <a:solidFill>
              <a:srgbClr val="16D9FF">
                <a:alpha val="5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52E25-FD38-4C85-8C1A-B39AF972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6955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D9FF"/>
                </a:solidFill>
              </a:defRPr>
            </a:pPr>
            <a:r>
              <a:rPr sz="9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SHARED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939B9-C3C2-47CD-9320-D693166F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194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FAFF"/>
                </a:solidFill>
              </a:defRPr>
            </a:pPr>
            <a:r>
              <a:rPr sz="23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VIN CROP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75C51-600B-4E10-8492-E749E849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7528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0A4B8"/>
                </a:solidFill>
              </a:defRPr>
            </a:pPr>
            <a:r>
              <a:rPr sz="1050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one session · one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D9FB4-B2E6-4FC0-A39A-CE9507F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33600"/>
            <a:ext cx="323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E99AD-5F4D-4016-820C-6CBF1BBF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3241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E6A8"/>
                </a:solidFill>
              </a:defRPr>
            </a:pPr>
            <a:r>
              <a:rPr sz="9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EVIDENCE 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04BED-820E-43D3-822C-4A2CCFEB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609850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AFF"/>
                </a:solidFill>
              </a:defRPr>
            </a:pPr>
            <a:r>
              <a:rPr sz="17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ENGRAVED_V121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99F7E-CE3C-408D-86D1-4DEC6846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9908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ONNX/PT engraved-character classifier</a:t>
            </a:r>
          </a:p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adaptive segmentation · per-character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AE624-2150-4E0A-8C22-6703017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95750"/>
            <a:ext cx="323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25961-7C0B-46CE-864B-E2E99C9B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2862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D9FF"/>
                </a:solidFill>
              </a:defRPr>
            </a:pPr>
            <a:r>
              <a:rPr sz="9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EVIDENCE VALIDATOR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C7C42-76D3-45CF-82E0-2A631F8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572000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AFF"/>
                </a:solidFill>
              </a:defRPr>
            </a:pPr>
            <a:r>
              <a:rPr sz="17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PADDLE_RAW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6EBF3-EA7F-4203-95EB-E6031AF7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9530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raw / minimally normalized crop</a:t>
            </a:r>
          </a:p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preserves an independent OCR payload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B3E0A-FE55-4BEC-A9E6-D90378AB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3105150"/>
            <a:ext cx="323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99564-470B-4738-83F4-02F8C785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32956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87FF"/>
                </a:solidFill>
              </a:defRPr>
            </a:pPr>
            <a:r>
              <a:rPr sz="900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EVIDENCE VALIDATOR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C19566-5CF9-4838-B2B3-0A0CF69C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3581400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AFF"/>
                </a:solidFill>
              </a:defRPr>
            </a:pPr>
            <a:r>
              <a:rPr sz="17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PADDLE_ENHANCED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3975F-0E5E-4AB1-B5C4-790B8B61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39624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contrast-enhanced crop</a:t>
            </a:r>
          </a:p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separate inference and stored payload</a:t>
            </a:r>
          </a:p>
        </p:txBody>
      </p:sp>
      <p:cxnSp>
        <p:nvCxnSpPr>
          <p:cNvPr id="53" name=""/>
          <p:cNvCxnSpPr>
            <a:stCxn xmlns:a="http://schemas.openxmlformats.org/drawingml/2006/main" id="8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 flipV="1">
            <a:off x="3924300" y="2809875"/>
            <a:ext cx="9715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8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3924300" y="3343275"/>
            <a:ext cx="9715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296150" y="3343275"/>
            <a:ext cx="97155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EC5678-74D2-4F1C-836D-6A7AA1F5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57912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CURRENT LIVE AUTHORITY: process-isolated multi-crop Paddle variants + position-level VIN fusion</a:t>
            </a:r>
          </a:p>
        </p:txBody>
      </p:sp>
    </p:spTree>
    <p:extLst>
      <p:ext uri="{BB962C8B-B14F-4D97-AF65-F5344CB8AC3E}">
        <p14:creationId xmlns:p14="http://schemas.microsoft.com/office/powerpoint/2010/main" val="1838841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BD9F68-66C0-439D-80E5-25999B67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EFC2F-B1E0-4535-904E-DAB6A9F1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D46B6-4193-4A8F-ABBB-5474E872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B0F16-9934-4F87-883A-8C6268F0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OCR DECISION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83F9E-EF5B-43AD-AB6D-5A2EFBAB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The production VIN is a guarded Paddle fusion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4434F-2426-4A33-B0A4-CDE6895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Parallel Engraved/RAW/Enhanced output explains disagreement but does not currently write the session VIN.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513A0-5F70-4292-AB73-BC60DD61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001D5-E86F-4ADA-87AE-B15EC926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705100"/>
            <a:ext cx="1752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4F095-2CAF-4F14-BF7D-CE8CDFE0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305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B2185-2650-435C-950D-C646705F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31457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D9FF"/>
                </a:solidFill>
              </a:defRPr>
            </a:pPr>
            <a:r>
              <a:rPr sz="13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17CF3-8BDD-4D4B-9E01-0E75485B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D9FF"/>
                </a:solidFill>
              </a:defRPr>
            </a:pPr>
            <a:r>
              <a:rPr sz="13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0B2FD-C155-4071-A385-961F65DC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48615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multi-crop Paddle preprocessing variants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D297E-92BF-42AE-AF19-AB6A7ACB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705100"/>
            <a:ext cx="1752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AA970-D0A6-421D-95E6-A0FCFCAF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305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19050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A9388-0806-456F-90BC-AAB7EE5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31457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87FF"/>
                </a:solidFill>
              </a:defRPr>
            </a:pPr>
            <a:r>
              <a:rPr sz="1350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73CB6-984F-44F4-BB93-F7B92040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87FF"/>
                </a:solidFill>
              </a:defRPr>
            </a:pPr>
            <a:r>
              <a:rPr sz="1350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FUSE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CA1E6-368F-4B75-81AB-3F1BEC8D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348615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weighted character votes by position</a:t>
            </a:r>
          </a:p>
        </p:txBody>
      </p:sp>
      <p:cxnSp>
        <p:nvCxnSpPr>
          <p:cNvPr id="59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43150" y="35433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FBC31-3AE7-49AB-B63E-CF5FCA20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2705100"/>
            <a:ext cx="1752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4B439-7F85-47FE-A3C5-4C6E1BAE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305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C85AE-2B14-46BD-9608-ADA50AF2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31457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E6A8"/>
                </a:solidFill>
              </a:defRPr>
            </a:pPr>
            <a:r>
              <a:rPr sz="13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6E38F-013F-447B-864B-62CB1128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E6A8"/>
                </a:solidFill>
              </a:defRPr>
            </a:pPr>
            <a:r>
              <a:rPr sz="13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FA69E-2084-46FD-B4EE-FD781244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48615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known-model rules + auditable corrections</a:t>
            </a:r>
          </a:p>
        </p:txBody>
      </p:sp>
      <p:cxnSp>
        <p:nvCxnSpPr>
          <p:cNvPr id="65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591050" y="35433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B4099-A6C0-4215-AE62-701412F1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705100"/>
            <a:ext cx="1752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9337B-5660-4E6F-A150-84414763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305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98595-9FEE-4A62-8A49-20030E98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31457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D9FE2-5E9F-4316-97E7-D4CB6D84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FB5E61-C5D0-40C0-BB92-8604CB48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48615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score · margins · support · conflicts</a:t>
            </a:r>
          </a:p>
        </p:txBody>
      </p:sp>
      <p:cxnSp>
        <p:nvCxnSpPr>
          <p:cNvPr id="71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838950" y="35433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4D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156BF-0043-42B2-9B75-4D961D22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2705100"/>
            <a:ext cx="1752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9DF840-F23A-4B2D-8E88-236D5382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2305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54EEA4-7935-4A19-B792-F5D326C8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231457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E6A8"/>
                </a:solidFill>
              </a:defRPr>
            </a:pPr>
            <a:r>
              <a:rPr sz="13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CE971A-2AE7-4283-947B-15BE48E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30289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E6A8"/>
                </a:solidFill>
              </a:defRPr>
            </a:pPr>
            <a:r>
              <a:rPr sz="13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LOCK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F5DF6-C9A7-4546-B62D-52561E5E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348615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accepted VIN becomes immutable</a:t>
            </a:r>
          </a:p>
        </p:txBody>
      </p:sp>
      <p:cxnSp>
        <p:nvCxnSpPr>
          <p:cNvPr id="77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086850" y="35433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CCAB79-CAB9-4A11-BF8E-213AEB5E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905375"/>
            <a:ext cx="9486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523"/>
          </a:solidFill>
          <a:ln xmlns:a="http://schemas.openxmlformats.org/drawingml/2006/main" w="9525">
            <a:solidFill>
              <a:srgbClr val="FFB84D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FB8AEE-1B23-44CA-B119-53F543F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51054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Configuration / implementation reconciliation required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C147C3-6C08-4B25-8CA5-8AC2130F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5105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YAML: GUARDED_PRIMARY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2115E8-2B51-48B5-AD8B-8369EDFC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51054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Call graph: write_final = false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584EE6-8C95-4D6C-8500-6A8F5533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5467350"/>
            <a:ext cx="893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The evidence-stage candidate is stored for audit/collection; OCRWorker remains the body-cycle authority.</a:t>
            </a:r>
          </a:p>
        </p:txBody>
      </p:sp>
    </p:spTree>
    <p:extLst>
      <p:ext uri="{BB962C8B-B14F-4D97-AF65-F5344CB8AC3E}">
        <p14:creationId xmlns:p14="http://schemas.microsoft.com/office/powerpoint/2010/main" val="2141280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DE34B-C60C-46D4-A797-1098C5F7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1D22E-CCD3-43FA-92DA-B778EE0B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CF567-69BD-4FD9-ABA2-A849173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78891-0804-4D3B-9894-B42C7438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REAL OCR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F4B39-8E56-4DD0-B5BC-94321391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Weak characters expose the next validation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7A885-AED4-4479-B1B7-F7ECD65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Engraved metal, glare, perspective, and narrow strokes make some glyphs systematically confusable.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58AAC-6720-4F08-BDD9-DF206E8A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CB14B-BAD8-4BEA-A745-410356F0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152650"/>
            <a:ext cx="7277100" cy="2000250"/>
          </a:xfrm>
          <a:prstGeom xmlns:a="http://schemas.openxmlformats.org/drawingml/2006/main" prst="roundRect">
            <a:avLst>
              <a:gd name="adj" fmla="val 5714"/>
            </a:avLst>
          </a:prstGeom>
          <a:gradFill xmlns:a="http://schemas.openxmlformats.org/drawingml/2006/main">
            <a:gsLst>
              <a:gs pos="0">
                <a:srgbClr val="0A1928"/>
              </a:gs>
              <a:gs pos="100000">
                <a:srgbClr val="07111C"/>
              </a:gs>
            </a:gsLst>
            <a:lin ang="8700000"/>
          </a:gradFill>
          <a:ln xmlns:a="http://schemas.openxmlformats.org/drawingml/2006/main" w="9525">
            <a:solidFill>
              <a:srgbClr val="1E40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0BC42-BFB5-415A-970B-862435B9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381250"/>
            <a:ext cx="1981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D9FF">
              <a:alpha val="12000"/>
            </a:srgbClr>
          </a:solidFill>
          <a:ln xmlns:a="http://schemas.openxmlformats.org/drawingml/2006/main" w="9525">
            <a:solidFill>
              <a:srgbClr val="16D9FF">
                <a:alpha val="5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B7AFB-FB07-422F-93CB-B3D2031B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3907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D9FF"/>
                </a:solidFill>
              </a:defRPr>
            </a:pPr>
            <a:r>
              <a:rPr sz="9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SCHEMATIC EVIDENCE STRIP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DAD15-EEB3-442A-8DD2-ED148DA7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009900"/>
            <a:ext cx="672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4FAFF"/>
                </a:solidFill>
              </a:defRPr>
            </a:pPr>
            <a:r>
              <a:rPr sz="2625" b="1">
                <a:solidFill>
                  <a:srgbClr val="F4FAFF"/>
                </a:solidFill>
                <a:latin typeface="Aptos Mono"/>
                <a:ea typeface="Aptos Mono"/>
                <a:cs typeface="Aptos Mono"/>
              </a:rPr>
              <a:t>···   U / V   ···   F / E   ···   0 / 6 / 8   ···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0A271-5DB9-4A9A-9484-E3DBD47E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714750"/>
            <a:ext cx="672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No runtime crops or production VINs are included in this release tree.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0281B-7576-447D-9D57-6A8A9472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2152650"/>
            <a:ext cx="320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46E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F6392-F0DB-41D0-8D54-36605BFC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24003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6E6A8"/>
                </a:solidFill>
              </a:defRPr>
            </a:pPr>
            <a:r>
              <a:rPr sz="142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Implemented helper proposes: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A665F-C207-4BE3-8860-1FCB46CE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2895600"/>
            <a:ext cx="2705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AFF"/>
                </a:solidFill>
              </a:defRPr>
            </a:pPr>
            <a:r>
              <a:rPr sz="150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≥ 2 independent frames</a:t>
            </a:r>
          </a:p>
          <a:p xmlns:a="http://schemas.openxmlformats.org/drawingml/2006/main">
            <a:pPr algn="l">
              <a:defRPr sz="1500" b="1">
                <a:solidFill>
                  <a:srgbClr val="F4FAFF"/>
                </a:solidFill>
              </a:defRPr>
            </a:pPr>
            <a:r>
              <a:rPr sz="150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OR  ≥ 2 engines agree</a:t>
            </a:r>
          </a:p>
          <a:p xmlns:a="http://schemas.openxmlformats.org/drawingml/2006/main">
            <a:pPr algn="l">
              <a:defRPr sz="1500" b="1">
                <a:solidFill>
                  <a:srgbClr val="F4FAFF"/>
                </a:solidFill>
              </a:defRPr>
            </a:pPr>
            <a:r>
              <a:rPr sz="150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OR  high engraved character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D0877-0D93-451A-B2B7-5A291FF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D9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62084-F8A0-4F13-B9B3-BFA0ED57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01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D9FF"/>
                </a:solidFill>
              </a:defRPr>
            </a:pPr>
            <a:r>
              <a:rPr sz="112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SOURCE HASH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603EE-FEB4-437A-80B9-8AD1AE84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3530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DEFFF"/>
                </a:solidFill>
              </a:defRPr>
            </a:pPr>
            <a:r>
              <a:rPr sz="127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preprocessing variants can count once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A6D3A-A075-4038-92D9-BE31392C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00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1DEDF-4AE1-47FA-B1C4-131D1EED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501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D9FF"/>
                </a:solidFill>
              </a:defRPr>
            </a:pPr>
            <a:r>
              <a:rPr sz="112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DISAGREEMENT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6D6C6-3C6B-40DA-872B-545A140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53530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DEFFF"/>
                </a:solidFill>
              </a:defRPr>
            </a:pPr>
            <a:r>
              <a:rPr sz="127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utilities compare raw / final / engines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1E977-84EA-4489-8BB6-2186171B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6E6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1BC56-41AE-4515-9AC3-8E046E55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501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E6A8"/>
                </a:solidFill>
              </a:defRPr>
            </a:pPr>
            <a:r>
              <a:rPr sz="112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LIVE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71C08-8E5D-4A11-B07D-2DAAA99D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53530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DEFFF"/>
                </a:solidFill>
              </a:defRPr>
            </a:pPr>
            <a:r>
              <a:rPr sz="127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helpers are tested but not wired to acceptance</a:t>
            </a:r>
          </a:p>
        </p:txBody>
      </p:sp>
    </p:spTree>
    <p:extLst>
      <p:ext uri="{BB962C8B-B14F-4D97-AF65-F5344CB8AC3E}">
        <p14:creationId xmlns:p14="http://schemas.microsoft.com/office/powerpoint/2010/main" val="2093706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536D7-E528-44B8-BDB2-FE6F512F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B3078-09C4-4FB1-AB41-A5DB2CF3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0C6FD-DA35-4BD0-B4B1-25060F0C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F326E-35C9-45C9-A332-646475CD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MODEL IMPROVEMENT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3622B-8391-4D22-9D43-836655D5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Every hard case can improve the next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2DA7C-1431-4FB4-B0A9-9568EB32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The current live loop generates review candidates—not automatic ground truth.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D928-3582-4FA4-AEDB-4D89A36F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E5521-53D2-41F7-A782-D4FEA1E1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609850"/>
            <a:ext cx="1866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4F0D4-5479-4FA7-98F3-24927255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575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</a:defRPr>
            </a:pPr>
            <a:r>
              <a:rPr sz="135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AMBIGUOUS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8FE8A-58D4-4044-8DE3-34833E37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3337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no-read / disagreement / weak char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D51DB-9723-4547-A231-F65A931E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2609850"/>
            <a:ext cx="1866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08D96-8F32-4FE3-A518-2461559E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8575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D9FF"/>
                </a:solidFill>
              </a:defRPr>
            </a:pPr>
            <a:r>
              <a:rPr sz="13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C66F9-8FD4-4DC7-8E48-66F72203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33337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source frame + line + engine evidence</a:t>
            </a:r>
          </a:p>
        </p:txBody>
      </p: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24100" y="3305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CE8D1-34EB-4A00-B2E4-F67A888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2609850"/>
            <a:ext cx="1866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0E2E0-8DDB-4970-81C2-AB69B479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28575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87FF"/>
                </a:solidFill>
              </a:defRPr>
            </a:pPr>
            <a:r>
              <a:rPr sz="1350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ALIGN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83C8F-A3D1-43B6-851D-D1516069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33337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engine boxes or projection valleys</a:t>
            </a:r>
          </a:p>
        </p:txBody>
      </p: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48200" y="3305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0A603-08EB-46B9-A7DD-26787FFC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609850"/>
            <a:ext cx="1866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8792C-E5C8-4A72-BB98-27745F1F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8575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6201D-667D-4951-A28C-33E2DF46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3337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authoritative or human approval</a:t>
            </a:r>
          </a:p>
        </p:txBody>
      </p: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72300" y="3305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4D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621F2-CC5B-4E67-812B-FDBDECE5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2609850"/>
            <a:ext cx="1866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B5037-69F9-4D86-9C5D-9B4821B5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28575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E6A8"/>
                </a:solidFill>
              </a:defRPr>
            </a:pPr>
            <a:r>
              <a:rPr sz="13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FE8F9-6C25-4978-95DB-1F051FB1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33337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DEFFF"/>
                </a:solidFill>
              </a:defRPr>
            </a:pPr>
            <a:r>
              <a:rPr sz="112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versioned dataset and evaluation</a:t>
            </a:r>
          </a:p>
        </p:txBody>
      </p:sp>
      <p:cxnSp>
        <p:nvCxnSpPr>
          <p:cNvPr id="58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296400" y="3305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1A60C-C16E-4F9F-B096-476BC85A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686300"/>
            <a:ext cx="8534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523"/>
          </a:solidFill>
          <a:ln xmlns:a="http://schemas.openxmlformats.org/drawingml/2006/main" w="9525">
            <a:solidFill>
              <a:srgbClr val="FFB84D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08E620-C024-4642-8F0E-2EE2F6A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4895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84D"/>
                </a:solidFill>
              </a:defRPr>
            </a:pPr>
            <a:r>
              <a:rPr sz="14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Why equal-width splitting is blocked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575CD-AB6A-40E6-8539-A273D47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2578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F"/>
                </a:solidFill>
              </a:defRPr>
            </a:pPr>
            <a:r>
              <a:rPr sz="1275" b="0">
                <a:solidFill>
                  <a:srgbClr val="F4FAFF"/>
                </a:solidFill>
                <a:latin typeface="Aptos"/>
                <a:ea typeface="Aptos"/>
                <a:cs typeface="Aptos"/>
              </a:rPr>
              <a:t>Perspective + uneven engraving + padding + narrow/wide glyphs can cut through strokes.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2193D-CAF6-4FF5-B5D1-99EF5156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5067300"/>
            <a:ext cx="2076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>
              <a:alpha val="12000"/>
            </a:srgbClr>
          </a:solidFill>
          <a:ln xmlns:a="http://schemas.openxmlformats.org/drawingml/2006/main" w="9525">
            <a:solidFill>
              <a:srgbClr val="FF6B6B">
                <a:alpha val="55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9FC3F9-F336-4182-B0CA-E93633D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50768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EQUAL SPLIT = PENDING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27DD0-970B-4712-BD2B-D472BEF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6076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Collector metadata blocks equal-split training; SQLite eligibility fields still need schema parity</a:t>
            </a:r>
          </a:p>
        </p:txBody>
      </p:sp>
    </p:spTree>
    <p:extLst>
      <p:ext uri="{BB962C8B-B14F-4D97-AF65-F5344CB8AC3E}">
        <p14:creationId xmlns:p14="http://schemas.microsoft.com/office/powerpoint/2010/main" val="17105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559958-63F0-46AB-987F-88D0562F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7743-C653-44EC-8A76-5A68052C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8142B-567C-477F-9920-998D8A9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A8191-F1BA-4318-9ECD-483E3CC7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42268-CE86-4AB8-A4E0-CCC15495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Session ownership keeps parallel results attached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FD74B-D176-4228-8BFB-D1A1CFDE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Device I/O, AI inference, persistence, and UI share one explicit session identity.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1D830-0295-4EA1-9CD5-B08994BE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DABA1-161C-4C12-8080-38052242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190750"/>
            <a:ext cx="19621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5B3D1-05A0-4295-B3EA-02657805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419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PLC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10CCF-1DD0-4E9A-BF06-A85C1BDD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333750"/>
            <a:ext cx="19621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16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FAD73-ECBF-4974-B5E1-21638E32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562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D9FF"/>
                </a:solidFill>
              </a:defRPr>
            </a:pPr>
            <a:r>
              <a:rPr sz="12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CAMERA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DEEAB-424C-4636-A50F-27004AB9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476750"/>
            <a:ext cx="19621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258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076AC-9D2B-469D-B31D-7D907275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05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87FF"/>
                </a:solidFill>
              </a:defRPr>
            </a:pPr>
            <a:r>
              <a:rPr sz="1200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RFID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0B224-4602-4AE3-8A3F-6988B390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2628900"/>
            <a:ext cx="2533650" cy="2476500"/>
          </a:xfrm>
          <a:prstGeom xmlns:a="http://schemas.openxmlformats.org/drawingml/2006/main" prst="roundRect">
            <a:avLst>
              <a:gd name="adj" fmla="val 4615"/>
            </a:avLst>
          </a:prstGeom>
          <a:gradFill xmlns:a="http://schemas.openxmlformats.org/drawingml/2006/main">
            <a:gsLst>
              <a:gs pos="0">
                <a:srgbClr val="11334A"/>
              </a:gs>
              <a:gs pos="100000">
                <a:srgbClr val="0A1A29"/>
              </a:gs>
            </a:gsLst>
            <a:lin ang="8700000"/>
          </a:gra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BEA8D-E5B3-420A-BE43-986B4A9D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9146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D9FF">
              <a:alpha val="12000"/>
            </a:srgbClr>
          </a:solidFill>
          <a:ln xmlns:a="http://schemas.openxmlformats.org/drawingml/2006/main" w="9525">
            <a:solidFill>
              <a:srgbClr val="16D9FF">
                <a:alpha val="5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B8EEB-0171-4C26-B439-3D595956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9241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D9FF"/>
                </a:solidFill>
              </a:defRPr>
            </a:pPr>
            <a:r>
              <a:rPr sz="9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STATE 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628D6-ED66-4D64-9BDA-E4536EF8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4671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FAFF"/>
                </a:solidFill>
              </a:defRPr>
            </a:pPr>
            <a:r>
              <a:rPr sz="23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51E86-7D2E-42DF-AE86-9900A609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038600"/>
            <a:ext cx="1504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DEFFF"/>
                </a:solidFill>
              </a:defRPr>
            </a:pPr>
            <a:r>
              <a:rPr sz="135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session map</a:t>
            </a:r>
          </a:p>
          <a:p xmlns:a="http://schemas.openxmlformats.org/drawingml/2006/main">
            <a:pPr algn="ctr">
              <a:defRPr sz="1350" b="0">
                <a:solidFill>
                  <a:srgbClr val="BDEFFF"/>
                </a:solidFill>
              </a:defRPr>
            </a:pPr>
            <a:r>
              <a:rPr sz="135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capture owner</a:t>
            </a:r>
          </a:p>
          <a:p xmlns:a="http://schemas.openxmlformats.org/drawingml/2006/main">
            <a:pPr algn="ctr">
              <a:defRPr sz="1350" b="0">
                <a:solidFill>
                  <a:srgbClr val="BDEFFF"/>
                </a:solidFill>
              </a:defRPr>
            </a:pPr>
            <a:r>
              <a:rPr sz="135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deadlines · retries</a:t>
            </a:r>
          </a:p>
          <a:p xmlns:a="http://schemas.openxmlformats.org/drawingml/2006/main">
            <a:pPr algn="ctr">
              <a:defRPr sz="1350" b="0">
                <a:solidFill>
                  <a:srgbClr val="BDEFFF"/>
                </a:solidFill>
              </a:defRPr>
            </a:pPr>
            <a:r>
              <a:rPr sz="135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finalization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E9F97-DBA3-4277-AA67-49FEB32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133600"/>
            <a:ext cx="1924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16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24AB4-FC19-4D81-B6EB-F8D27D5F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23812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D9FF"/>
                </a:solidFill>
              </a:defRPr>
            </a:pPr>
            <a:r>
              <a:rPr sz="12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YOLO + OCR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F1A35-4818-4CA7-B8CB-20D8DC62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390900"/>
            <a:ext cx="1924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46E6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85A0E-94CF-4587-A74F-0BA1EB35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6385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E6A8"/>
                </a:solidFill>
              </a:defRPr>
            </a:pPr>
            <a:r>
              <a:rPr sz="12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C68B1-CE70-4EEE-8C96-2BE1A176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648200"/>
            <a:ext cx="1924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FFB8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FAEC5-620E-4C66-97AD-CF3D77F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895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LOGS / 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1E278-CE21-414E-A2E0-EF0C2132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2857500"/>
            <a:ext cx="1581150" cy="18097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258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595A8-5B84-4B38-8FC4-7F3C17E9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3124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A9FF"/>
                </a:solidFill>
              </a:defRPr>
            </a:pPr>
            <a:r>
              <a:rPr sz="1350" b="1">
                <a:solidFill>
                  <a:srgbClr val="70A9FF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162F7-0117-4D19-A9FC-86083FE7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356235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REST</a:t>
            </a:r>
          </a:p>
          <a:p xmlns:a="http://schemas.openxmlformats.org/drawingml/2006/main">
            <a:pPr algn="ctr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MJPEG</a:t>
            </a:r>
          </a:p>
          <a:p xmlns:a="http://schemas.openxmlformats.org/drawingml/2006/main">
            <a:pPr algn="ctr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Dashboard</a:t>
            </a:r>
          </a:p>
          <a:p xmlns:a="http://schemas.openxmlformats.org/drawingml/2006/main">
            <a:pPr algn="ctr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cxnSp>
        <p:nvCxnSpPr>
          <p:cNvPr id="64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705100" y="2571750"/>
            <a:ext cx="1047750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B84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705100" y="3714750"/>
            <a:ext cx="1047750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705100" y="3867150"/>
            <a:ext cx="1047750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6286500" y="2533650"/>
            <a:ext cx="1047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6286500" y="3790950"/>
            <a:ext cx="104775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4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286500" y="3867150"/>
            <a:ext cx="104775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B84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9258300" y="3762375"/>
            <a:ext cx="6858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9258300" y="3762375"/>
            <a:ext cx="685800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B84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1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6286500" y="3276600"/>
            <a:ext cx="3657600" cy="590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209994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3E7C35-5FB9-4A02-8087-3ADAFA2F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D8C91-40D8-4C65-A979-736A9622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4FBF7-2501-4C6F-AA73-60F003E3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479D6-0BE0-44D9-A133-3FDF0DD9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PERSISTENCE AND TRACEABILITY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923A6-2E72-4741-988F-E7FEB4C3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One session becomes one auditable database 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1061E-D206-4324-BC60-91492F7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Three OCR engine rows explain the decision without multiplying production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183FD-2681-4EC4-9CAE-AD1A8CF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71C1D-9241-49F2-B341-25456BAA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781300"/>
            <a:ext cx="20383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5ECF7-94B2-46A1-B283-AEC27A26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990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B84D"/>
                </a:solidFill>
              </a:defRPr>
            </a:pPr>
            <a:r>
              <a:rPr sz="12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SESSION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A2A6F-14F2-47B1-8352-7D8546AD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429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INSERT pending 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01B7B-77B3-41BB-A93B-184159B1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133600"/>
            <a:ext cx="3390900" cy="2781300"/>
          </a:xfrm>
          <a:prstGeom xmlns:a="http://schemas.openxmlformats.org/drawingml/2006/main" prst="can">
            <a:avLst/>
          </a:prstGeom>
          <a:gradFill xmlns:a="http://schemas.openxmlformats.org/drawingml/2006/main">
            <a:gsLst>
              <a:gs pos="0">
                <a:srgbClr val="102B37"/>
              </a:gs>
              <a:gs pos="100000">
                <a:srgbClr val="081623"/>
              </a:gs>
            </a:gsLst>
            <a:lin ang="8700000"/>
          </a:gra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271F7-E3BF-428B-B382-784F79C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25146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E6A8"/>
                </a:solidFill>
              </a:defRPr>
            </a:pPr>
            <a:r>
              <a:rPr sz="22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vin_records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47D8D-4307-4AB3-AC61-6FAAFA3C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30289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UNIQUE session_id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EC5C1-BE0F-4F26-9370-DE2C081B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34861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DEFFF"/>
                </a:solidFill>
              </a:defRPr>
            </a:pPr>
            <a:r>
              <a:rPr sz="127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VIN · raw OCR · model · confidence</a:t>
            </a:r>
          </a:p>
          <a:p xmlns:a="http://schemas.openxmlformats.org/drawingml/2006/main">
            <a:pPr algn="ctr">
              <a:defRPr sz="1275" b="0">
                <a:solidFill>
                  <a:srgbClr val="BDEFFF"/>
                </a:solidFill>
              </a:defRPr>
            </a:pPr>
            <a:r>
              <a:rPr sz="127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RFID EPC + raw EPC · status · image</a:t>
            </a:r>
          </a:p>
          <a:p xmlns:a="http://schemas.openxmlformats.org/drawingml/2006/main">
            <a:pPr algn="ctr">
              <a:defRPr sz="1275" b="0">
                <a:solidFill>
                  <a:srgbClr val="BDEFFF"/>
                </a:solidFill>
              </a:defRPr>
            </a:pPr>
            <a:r>
              <a:rPr sz="127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failure reason · latency · timestamps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33EFA-020D-4372-AC0E-EC04D8C2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000250"/>
            <a:ext cx="35052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16D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81336-9203-4272-B3A2-020F0005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2479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D9FF"/>
                </a:solidFill>
              </a:defRPr>
            </a:pPr>
            <a:r>
              <a:rPr sz="16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ocr_engine_results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6BE60-FFC5-4FDB-87F6-1889BA01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6860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DEFFF"/>
                </a:solidFill>
              </a:defRPr>
            </a:pPr>
            <a:r>
              <a:rPr sz="127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one row per engine / session</a:t>
            </a:r>
          </a:p>
          <a:p xmlns:a="http://schemas.openxmlformats.org/drawingml/2006/main">
            <a:pPr algn="l">
              <a:defRPr sz="1275" b="0">
                <a:solidFill>
                  <a:srgbClr val="BDEFFF"/>
                </a:solidFill>
              </a:defRPr>
            </a:pPr>
            <a:r>
              <a:rPr sz="127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text · boxes · confidence · model · latency · errors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A4EC4-9874-4FC8-91E4-18343F42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4038600"/>
            <a:ext cx="35052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258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DEC03-2D6E-41BC-9ABC-592FF5EF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4267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A9FF"/>
                </a:solidFill>
              </a:defRPr>
            </a:pPr>
            <a:r>
              <a:rPr sz="1650" b="1">
                <a:solidFill>
                  <a:srgbClr val="70A9FF"/>
                </a:solidFill>
                <a:latin typeface="Aptos"/>
                <a:ea typeface="Aptos"/>
                <a:cs typeface="Aptos"/>
              </a:rPr>
              <a:t>ocr_collection_items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E3F98-6B33-42C5-BF62-FF558F35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47244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DEFFF"/>
                </a:solidFill>
              </a:defRPr>
            </a:pPr>
            <a:r>
              <a:rPr sz="1275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alignment · label status · review metadata</a:t>
            </a:r>
          </a:p>
        </p:txBody>
      </p: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2724150" y="3352800"/>
            <a:ext cx="9144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4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11" idx="4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029450" y="2790825"/>
            <a:ext cx="95250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1" idx="4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29450" y="3524250"/>
            <a:ext cx="95250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16E03-37B7-4522-A143-8052B5A8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391150"/>
            <a:ext cx="3200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E6A8">
              <a:alpha val="12000"/>
            </a:srgbClr>
          </a:solidFill>
          <a:ln xmlns:a="http://schemas.openxmlformats.org/drawingml/2006/main" w="9525">
            <a:solidFill>
              <a:srgbClr val="46E6A8">
                <a:alpha val="5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9053E-132B-424D-BF84-2C5E9EDD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400675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6E6A8"/>
                </a:solidFill>
              </a:defRPr>
            </a:pPr>
            <a:r>
              <a:rPr sz="9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FINALIZATION UPDATES THE SAME ROW</a:t>
            </a:r>
          </a:p>
        </p:txBody>
      </p:sp>
    </p:spTree>
    <p:extLst>
      <p:ext uri="{BB962C8B-B14F-4D97-AF65-F5344CB8AC3E}">
        <p14:creationId xmlns:p14="http://schemas.microsoft.com/office/powerpoint/2010/main" val="17416191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B940A6-AA03-48B3-ABC2-F21AAE37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231AB-C539-4602-8222-E26DFE91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CB0C7-B121-43DF-B7FF-D25263B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C280A-5388-4629-95E6-1DCBDD18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OPERATOR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F1E94-2F00-401D-80D1-0541187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Operators see live evidence and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85327-B895-4578-8E8B-2AF10ACE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The schematic is reconstructed from the actual templates and API—not presented as a screenshot.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09F7A-6CD5-4190-B12F-6A08A4A2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E6B63-5C97-49EB-B016-809EAE43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981200"/>
            <a:ext cx="7334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111C"/>
          </a:solidFill>
          <a:ln xmlns:a="http://schemas.openxmlformats.org/drawingml/2006/main" w="9525">
            <a:solidFill>
              <a:srgbClr val="2D50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5ADB2-6ED9-4D84-989D-199BBB4D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981200"/>
            <a:ext cx="7334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E2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040DA-3539-4023-AD0E-5A926A4A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143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AFF"/>
                </a:solidFill>
              </a:defRPr>
            </a:pPr>
            <a:r>
              <a:rPr sz="11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AI_CAM  / 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E316D-3575-4307-99C5-1E4D0BBD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724150"/>
            <a:ext cx="1123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46E6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F8793-EC8E-48F2-9AE7-D71F56B1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8765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0A4B8"/>
                </a:solidFill>
              </a:defRPr>
            </a:pPr>
            <a:r>
              <a:rPr sz="82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CAMERA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C76ED-9D48-42DA-9B07-A6D26E21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1432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E6A8"/>
                </a:solidFill>
              </a:defRPr>
            </a:pPr>
            <a:r>
              <a:rPr sz="10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CB8E5-E1B8-474F-88C5-44441337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724150"/>
            <a:ext cx="1123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4A240-76D3-4137-99E0-20758011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28765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0A4B8"/>
                </a:solidFill>
              </a:defRPr>
            </a:pPr>
            <a:r>
              <a:rPr sz="82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PLC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9DBDF-6AA8-4B23-88C6-A07D5CF9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31432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84D"/>
                </a:solidFill>
              </a:defRPr>
            </a:pPr>
            <a:r>
              <a:rPr sz="10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CFF1E-5415-446B-81FD-AA5EE430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2724150"/>
            <a:ext cx="1123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258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FDD79-8B0E-4F71-B2C8-EBD97A5D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8765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0A4B8"/>
                </a:solidFill>
              </a:defRPr>
            </a:pPr>
            <a:r>
              <a:rPr sz="82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RFID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B7108-A30A-43DD-9D3C-2D27E9C7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31432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A9FF"/>
                </a:solidFill>
              </a:defRPr>
            </a:pPr>
            <a:r>
              <a:rPr sz="1050" b="1">
                <a:solidFill>
                  <a:srgbClr val="70A9FF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6530C-4142-4C31-A34D-74017F0A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724150"/>
            <a:ext cx="1123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46E6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2C5D0-BEE5-40FC-B121-A5807CAB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28765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0A4B8"/>
                </a:solidFill>
              </a:defRPr>
            </a:pPr>
            <a:r>
              <a:rPr sz="82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571A3-3A2B-499C-98A0-DD13DE70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31432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E6A8"/>
                </a:solidFill>
              </a:defRPr>
            </a:pPr>
            <a:r>
              <a:rPr sz="10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46682-4523-4EB5-8199-E1B4FFCD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2724150"/>
            <a:ext cx="1123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46E6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2F0A9-6B89-4949-8271-6CBBE186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28765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0A4B8"/>
                </a:solidFill>
              </a:defRPr>
            </a:pPr>
            <a:r>
              <a:rPr sz="82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LAST VIN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2FEB2-F3D4-4C51-B190-ADAF8DC4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31432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E6A8"/>
                </a:solidFill>
              </a:defRPr>
            </a:pPr>
            <a:r>
              <a:rPr sz="10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66BB7-F121-4C0B-A8EF-E371861C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695700"/>
            <a:ext cx="4762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C28"/>
          </a:solidFill>
          <a:ln xmlns:a="http://schemas.openxmlformats.org/drawingml/2006/main" w="9525">
            <a:solidFill>
              <a:srgbClr val="16D9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130AAC-009D-4D03-B100-4C47B543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3943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D9FF"/>
                </a:solidFill>
              </a:defRPr>
            </a:pPr>
            <a:r>
              <a:rPr sz="127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LIVE MJPEG / YOLO OVERLAY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40C3B-1AFF-415A-ADAF-84DCD4CF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4552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87C"/>
                </a:solidFill>
              </a:defRPr>
            </a:pPr>
            <a:r>
              <a:rPr sz="1650" b="1">
                <a:solidFill>
                  <a:srgbClr val="52687C"/>
                </a:solidFill>
                <a:latin typeface="Aptos"/>
                <a:ea typeface="Aptos"/>
                <a:cs typeface="Aptos"/>
              </a:rPr>
              <a:t>camera frame area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1B9A9-0456-4D0D-BB37-86D8B4F2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95700"/>
            <a:ext cx="1847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8EF330-5C98-4113-9709-DE9F29EA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8862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84D"/>
                </a:solidFill>
              </a:defRPr>
            </a:pPr>
            <a:r>
              <a:rPr sz="10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PLC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8E1EB0-527F-42EC-87FB-5AE68079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2100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AFF"/>
                </a:solidFill>
              </a:defRPr>
            </a:pPr>
            <a:r>
              <a:rPr sz="11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ON  /  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C7F4E8-D4DE-401F-B67A-5DD9CEDA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4686300"/>
            <a:ext cx="1847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46E6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5B7AA-2BA2-4071-9004-C2E90C12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8958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E6A8"/>
                </a:solidFill>
              </a:defRPr>
            </a:pPr>
            <a:r>
              <a:rPr sz="10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COUNTERS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3BAC0C-DB48-4F7F-A8D1-409BEE0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521970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AFF"/>
                </a:solidFill>
              </a:defRPr>
            </a:pPr>
            <a:r>
              <a:rPr sz="11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FPS · DET · VIN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E83ED3-AF58-4E13-810D-C19AF890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669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D9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B4EE83-36C1-4192-ADFC-95366BE5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171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D9FF"/>
                </a:solidFill>
              </a:defRPr>
            </a:pPr>
            <a:r>
              <a:rPr sz="127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3E1D2-17FF-4C7A-BE00-07452BD9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device state · live stream · counters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C08C73-F575-4AA6-BC41-2C6D19B4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40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8255EF-B140-4F0F-A030-544CC30E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914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AF8507-5CE2-47F8-B05D-1D09BB47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200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VIN/RFID filter · status · image · export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880CEC-A2DD-4564-A2AE-80FEEEBC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528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40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6336B1-D144-402C-A13A-17BCD487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657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4B0387-8468-44CA-8F3F-FD360043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943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search · stream · stats · download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26AB9F-D7C1-4236-91E5-879814CA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958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40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7038FD-4AF3-46AE-B63D-083AC16F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0F85FA-E536-4122-BD16-3255622A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4686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health · services · architecture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A330FF-2EF5-4621-A5D9-BB74366D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387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40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19F5BA-65CF-4921-A2EC-07D83660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5143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0AF376-9DFC-413B-91EC-88051D0A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0A4B8"/>
                </a:solidFill>
              </a:defRPr>
            </a:pPr>
            <a:r>
              <a:rPr sz="112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masked secrets · controlled updates</a:t>
            </a:r>
          </a:p>
        </p:txBody>
      </p:sp>
    </p:spTree>
    <p:extLst>
      <p:ext uri="{BB962C8B-B14F-4D97-AF65-F5344CB8AC3E}">
        <p14:creationId xmlns:p14="http://schemas.microsoft.com/office/powerpoint/2010/main" val="1351446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EABBDB-A81C-4D8B-9530-813518E5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A382A-F30C-4911-89F4-3BECAE9C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02C83-7BD9-4926-B56F-17233D6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A6E99-D0A2-4C6D-90B0-6E44496D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PRODUCTION STABILIZATION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83103-1C50-427D-B57D-0748152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Stabilization closes the failure loops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86E4B-A947-458D-AA08-38464312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The release adds bounded behavior and evidence at the exact points where production ambiguity occurs.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BE8CC-252A-42A3-9493-A02CF977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2FCE3-2CE7-49CB-AFC9-5D818137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65C12-068C-403A-A265-D1CC2E86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3812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84D"/>
                </a:solidFill>
              </a:defRPr>
            </a:pPr>
            <a:r>
              <a:rPr sz="14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BC0FD-A1ED-432C-B5E2-84E342FC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8003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edge debounce</a:t>
            </a:r>
          </a:p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suppression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12857-7C5C-41DB-B8AB-3B35FC4F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7170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17311-77B2-41FE-91DC-02C1A6FF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3812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D9FF"/>
                </a:solidFill>
              </a:defRPr>
            </a:pPr>
            <a:r>
              <a:rPr sz="142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58B1A-45FC-4E39-B657-D8C06F67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8003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watchdog</a:t>
            </a:r>
          </a:p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reconnect / ownership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2AAC2-AD88-4A80-A1AE-3165ACF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8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EAA19-0024-4477-BC62-2390AE12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3812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87FF"/>
                </a:solidFill>
              </a:defRPr>
            </a:pPr>
            <a:r>
              <a:rPr sz="1425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D44AD-3452-4BB4-AF0F-7039DCE7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8003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stable frames</a:t>
            </a:r>
          </a:p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strict 0.90 OCR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508E3-BC20-42E4-9BDC-74C049F9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6E6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C874B-3F08-4BB0-A6B7-55A5F6C8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4171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6E6A8"/>
                </a:solidFill>
              </a:defRPr>
            </a:pPr>
            <a:r>
              <a:rPr sz="142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84D08-F237-43A4-823F-27FCB5A8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45910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new-evidence retry</a:t>
            </a:r>
          </a:p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VIN_LOCKED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A6553-6B6C-4DDE-9243-B0E7AC79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62845-0F56-4C11-9499-D476DACF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171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6B"/>
                </a:solidFill>
              </a:defRPr>
            </a:pPr>
            <a:r>
              <a:rPr sz="14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D4420-D58A-43BA-8BFB-1B3A1A35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5910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best crop / last frame</a:t>
            </a:r>
          </a:p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reasoned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C5E9D-E6E6-4FCC-B9AD-716107AF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8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41390-0EC3-4EB8-AF4C-068D3F23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171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84D"/>
                </a:solidFill>
              </a:defRPr>
            </a:pPr>
            <a:r>
              <a:rPr sz="14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8A1DF-9571-475E-8917-B402BE9D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5910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24 h real artifacts</a:t>
            </a:r>
          </a:p>
          <a:p xmlns:a="http://schemas.openxmlformats.org/drawingml/2006/main">
            <a:pPr algn="l">
              <a:defRPr sz="1650" b="1">
                <a:solidFill>
                  <a:srgbClr val="F4FAFF"/>
                </a:solidFill>
              </a:defRPr>
            </a:pPr>
            <a:r>
              <a:rPr sz="16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honesty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F940D-C1DB-491A-9357-DBE801C4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5791200"/>
            <a:ext cx="109156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926"/>
          </a:solidFill>
          <a:ln xmlns:a="http://schemas.openxmlformats.org/drawingml/2006/main" w="9525">
            <a:solidFill>
              <a:srgbClr val="46E6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EC261-DCC8-488B-AFA2-80AE229E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5905500"/>
            <a:ext cx="1053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E6A8"/>
                </a:solidFill>
              </a:defRPr>
            </a:pPr>
            <a:r>
              <a:rPr sz="10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DECODED FRAMES + NO VIN  ⇒  EVIDENCE IMAGE   ·   PARTIAL OBSERVATION  ⇒  NOT COMPLETED</a:t>
            </a:r>
          </a:p>
        </p:txBody>
      </p:sp>
    </p:spTree>
    <p:extLst>
      <p:ext uri="{BB962C8B-B14F-4D97-AF65-F5344CB8AC3E}">
        <p14:creationId xmlns:p14="http://schemas.microsoft.com/office/powerpoint/2010/main" val="5114340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317382-95D0-4F39-994A-E9F342CC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2BFCA-34C6-45AB-BACF-D93FA34A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7E9D6-F421-46B9-9F3E-5D1B77BA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E76C0-8C52-4C46-82E6-32AFF3B4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CODEBASE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7C286-0178-4D77-B1A4-FCBEEADE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Devices, AI, data, and operations stay separated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F6B32-A71A-45AF-85E8-23DA2FBE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The pipeline integrates adapters; tests keep subsystem behavior explicit.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A9690-F5D7-4074-9179-E8D4D6F3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C5976-35DC-4034-AC7A-3C0A4A37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2419350"/>
            <a:ext cx="3314700" cy="2171700"/>
          </a:xfrm>
          <a:prstGeom xmlns:a="http://schemas.openxmlformats.org/drawingml/2006/main" prst="roundRect">
            <a:avLst>
              <a:gd name="adj" fmla="val 5263"/>
            </a:avLst>
          </a:prstGeom>
          <a:gradFill xmlns:a="http://schemas.openxmlformats.org/drawingml/2006/main">
            <a:gsLst>
              <a:gs pos="0">
                <a:srgbClr val="123349"/>
              </a:gs>
              <a:gs pos="100000">
                <a:srgbClr val="0A1A29"/>
              </a:gs>
            </a:gsLst>
            <a:lin ang="8700000"/>
          </a:gra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2F97D-58B9-4D2B-A4C4-0719E13C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27432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D9FF"/>
                </a:solidFill>
              </a:defRPr>
            </a:pPr>
            <a:r>
              <a:rPr sz="1950" b="1">
                <a:solidFill>
                  <a:srgbClr val="16D9FF"/>
                </a:solidFill>
                <a:latin typeface="Aptos Mono"/>
                <a:ea typeface="Aptos Mono"/>
                <a:cs typeface="Aptos Mono"/>
              </a:rPr>
              <a:t>backend/pipeline.py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1BA9E-0D65-4697-A6CA-BB735106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31470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AFF"/>
                </a:solidFill>
              </a:defRPr>
            </a:pPr>
            <a:r>
              <a:rPr sz="14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Session state</a:t>
            </a:r>
          </a:p>
          <a:p xmlns:a="http://schemas.openxmlformats.org/drawingml/2006/main">
            <a:pPr algn="ctr">
              <a:defRPr sz="1425" b="1">
                <a:solidFill>
                  <a:srgbClr val="F4FAFF"/>
                </a:solidFill>
              </a:defRPr>
            </a:pPr>
            <a:r>
              <a:rPr sz="14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Device coordination</a:t>
            </a:r>
          </a:p>
          <a:p xmlns:a="http://schemas.openxmlformats.org/drawingml/2006/main">
            <a:pPr algn="ctr">
              <a:defRPr sz="1425" b="1">
                <a:solidFill>
                  <a:srgbClr val="F4FAFF"/>
                </a:solidFill>
              </a:defRPr>
            </a:pPr>
            <a:r>
              <a:rPr sz="14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Capture + inference ownership</a:t>
            </a:r>
          </a:p>
          <a:p xmlns:a="http://schemas.openxmlformats.org/drawingml/2006/main">
            <a:pPr algn="ctr">
              <a:defRPr sz="1425" b="1">
                <a:solidFill>
                  <a:srgbClr val="F4FAFF"/>
                </a:solidFill>
              </a:defRPr>
            </a:pPr>
            <a:r>
              <a:rPr sz="1425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Finalization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7FCA6-B22E-4380-BCEB-F9DE9339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114550"/>
            <a:ext cx="3067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FFB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D1BCE-332A-4A02-B23D-72A7F9E8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324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84D"/>
                </a:solidFill>
              </a:defRPr>
            </a:pPr>
            <a:r>
              <a:rPr sz="15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backend/plc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0FF8C-15DE-4D43-B280-8B0B3190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7622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0A4B8"/>
                </a:solidFill>
              </a:defRPr>
            </a:pPr>
            <a:r>
              <a:rPr sz="1200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trigger +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AB12C-9C85-4943-8863-6967F8F4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790950"/>
            <a:ext cx="3067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16D9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8B27D-638A-4A29-B3A3-8730727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000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D9FF"/>
                </a:solidFill>
              </a:defRPr>
            </a:pPr>
            <a:r>
              <a:rPr sz="1500" b="1">
                <a:solidFill>
                  <a:srgbClr val="16D9FF"/>
                </a:solidFill>
                <a:latin typeface="Aptos Mono"/>
                <a:ea typeface="Aptos Mono"/>
                <a:cs typeface="Aptos Mono"/>
              </a:rPr>
              <a:t>backend/camera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A8DB2-89B6-40EA-997C-9E61B740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4386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0A4B8"/>
                </a:solidFill>
              </a:defRPr>
            </a:pPr>
            <a:r>
              <a:rPr sz="1200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CoLa + BLOB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DC895-3AB4-4021-902D-5D47F136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2114550"/>
            <a:ext cx="3067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258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23FD0-2351-4661-B19C-9C537601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324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87FF"/>
                </a:solidFill>
              </a:defRPr>
            </a:pPr>
            <a:r>
              <a:rPr sz="1500" b="1">
                <a:solidFill>
                  <a:srgbClr val="2587FF"/>
                </a:solidFill>
                <a:latin typeface="Aptos Mono"/>
                <a:ea typeface="Aptos Mono"/>
                <a:cs typeface="Aptos Mono"/>
              </a:rPr>
              <a:t>backend/rfid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0952B-781A-4054-9384-DEDA32D2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7622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0A4B8"/>
                </a:solidFill>
              </a:defRPr>
            </a:pPr>
            <a:r>
              <a:rPr sz="1200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R700 + EPC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65705-9A31-4C0E-9625-8CD3EE54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3790950"/>
            <a:ext cx="3067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46E6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4B9070-E81D-4080-8744-45873EAD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4000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6E6A8"/>
                </a:solidFill>
              </a:defRPr>
            </a:pPr>
            <a:r>
              <a:rPr sz="1500" b="1">
                <a:solidFill>
                  <a:srgbClr val="46E6A8"/>
                </a:solidFill>
                <a:latin typeface="Aptos Mono"/>
                <a:ea typeface="Aptos Mono"/>
                <a:cs typeface="Aptos Mono"/>
              </a:rPr>
              <a:t>backend/ai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A5C01-6958-487B-9539-441A509C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44386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0A4B8"/>
                </a:solidFill>
              </a:defRPr>
            </a:pPr>
            <a:r>
              <a:rPr sz="1200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YOLO + OCR + collection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ACF52-9553-4FF0-B656-03E603E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5143500"/>
            <a:ext cx="3067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46E6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C1D00-70A2-405F-8D7F-9C61F681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5353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6E6A8"/>
                </a:solidFill>
              </a:defRPr>
            </a:pPr>
            <a:r>
              <a:rPr sz="1500" b="1">
                <a:solidFill>
                  <a:srgbClr val="46E6A8"/>
                </a:solidFill>
                <a:latin typeface="Aptos Mono"/>
                <a:ea typeface="Aptos Mono"/>
                <a:cs typeface="Aptos Mono"/>
              </a:rPr>
              <a:t>backend/database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55513-B5A5-444C-8582-4DE78E07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57912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0A4B8"/>
                </a:solidFill>
              </a:defRPr>
            </a:pPr>
            <a:r>
              <a:rPr sz="1200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SQLite + migration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41B80-1504-489D-8A9A-D2671DDF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5143500"/>
            <a:ext cx="3067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14288">
            <a:solidFill>
              <a:srgbClr val="258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29ED0B-B39D-4B2B-A2E2-DDF365F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5353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87FF"/>
                </a:solidFill>
              </a:defRPr>
            </a:pPr>
            <a:r>
              <a:rPr sz="1500" b="1">
                <a:solidFill>
                  <a:srgbClr val="2587FF"/>
                </a:solidFill>
                <a:latin typeface="Aptos Mono"/>
                <a:ea typeface="Aptos Mono"/>
                <a:cs typeface="Aptos Mono"/>
              </a:rPr>
              <a:t>backend/server + 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0AC0B-4BAD-4552-B14A-F59F6444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57912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0A4B8"/>
                </a:solidFill>
              </a:defRPr>
            </a:pPr>
            <a:r>
              <a:rPr sz="1200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API + operator 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BD5B4-29D1-4157-AF7D-F482D785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6438900"/>
            <a:ext cx="864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0A4B8"/>
                </a:solidFill>
              </a:defRPr>
            </a:pPr>
            <a:r>
              <a:rPr sz="1050" b="1">
                <a:solidFill>
                  <a:srgbClr val="90A4B8"/>
                </a:solidFill>
                <a:latin typeface="Aptos Mono"/>
                <a:ea typeface="Aptos Mono"/>
                <a:cs typeface="Aptos Mono"/>
              </a:rPr>
              <a:t>run.py · config/settings.yaml · models/ · tests/ · tools/ · docs/ · reports/</a:t>
            </a:r>
          </a:p>
        </p:txBody>
      </p:sp>
    </p:spTree>
    <p:extLst>
      <p:ext uri="{BB962C8B-B14F-4D97-AF65-F5344CB8AC3E}">
        <p14:creationId xmlns:p14="http://schemas.microsoft.com/office/powerpoint/2010/main" val="1324902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98998F-B7A0-46CA-BC6F-10A3CE51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A346D-3516-4062-A95C-C3DA8572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1CEDD-2452-47EA-B863-F7008318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3B7FE-E57B-4740-BD21-D00A7841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ENGINEERING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F778F-E45D-44DB-918E-BEC0CD00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Current strengths are clear; remaining gates are operational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90B21-6396-4E5E-AEF2-BE4C9701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The architecture is evidence-rich, but live cell proof still determines production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063A-CC7A-4BA5-972B-2DC312D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D0349-D951-4EBF-A641-F15DB068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4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9994B-37E1-4480-AACA-2CC34452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1145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E6A8">
              <a:alpha val="12000"/>
            </a:srgbClr>
          </a:solidFill>
          <a:ln xmlns:a="http://schemas.openxmlformats.org/drawingml/2006/main" w="9525">
            <a:solidFill>
              <a:srgbClr val="46E6A8">
                <a:alpha val="5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8B1E5-4B67-4C88-A359-4015904B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1240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6E6A8"/>
                </a:solidFill>
              </a:defRPr>
            </a:pPr>
            <a:r>
              <a:rPr sz="9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CURRENT STRENGTHS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6FE72-0480-46E0-9968-5F464CB6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62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1F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F2389-5A6E-4BB2-BEA3-89AB7470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6384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E6A8"/>
                </a:solidFill>
              </a:defRPr>
            </a:pPr>
            <a:r>
              <a:rPr sz="12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52BA5-A27F-4934-8AC9-A98F3D1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2647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Explicit session ownership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F2D7D-D17E-4774-A20B-6FF1D068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124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1F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2DCB8-66A5-4356-A362-A7778AF9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1337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E6A8"/>
                </a:solidFill>
              </a:defRPr>
            </a:pPr>
            <a:r>
              <a:rPr sz="12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81070-F044-4417-A358-CAEF2D39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3143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One-record idempotency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C7C29-B83D-4368-9EE0-832661BE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61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1F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FFC57-A1EB-4BBE-9ECC-6126A5F9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629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E6A8"/>
                </a:solidFill>
              </a:defRPr>
            </a:pPr>
            <a:r>
              <a:rPr sz="12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4FF12-53A7-468C-B98A-95E5F88D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3638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Per-engine evidence beside production Paddle 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14252-6B70-4292-8DDE-9F3ED1A8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114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1F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D893B-1E0C-4977-A4F9-76B4336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1243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E6A8"/>
                </a:solidFill>
              </a:defRPr>
            </a:pPr>
            <a:r>
              <a:rPr sz="12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8913D-3FC5-4C08-A3A2-BD283B7B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413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Bounded retries + VIN 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4AE0E-DD89-4692-A2F2-EBB62F3C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610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1F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10C07-0F03-4BE7-83BE-F52CBB52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6196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E6A8"/>
                </a:solidFill>
              </a:defRPr>
            </a:pPr>
            <a:r>
              <a:rPr sz="12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FB511-2930-4447-BA0E-6453171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4629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Failure image preservation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D7218-8AB0-4996-8BB2-C0F3276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5105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1F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E84EF-3705-4A53-917A-A61BDB0A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5114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6E6A8"/>
                </a:solidFill>
              </a:defRPr>
            </a:pPr>
            <a:r>
              <a:rPr sz="12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8DA445-F708-4608-9597-077259E3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5124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Portable local models and runtime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2128A7-5436-45E8-B657-71DE3AB0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2114550"/>
            <a:ext cx="1447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>
              <a:alpha val="12000"/>
            </a:srgbClr>
          </a:solidFill>
          <a:ln xmlns:a="http://schemas.openxmlformats.org/drawingml/2006/main" w="9525">
            <a:solidFill>
              <a:srgbClr val="FFB84D">
                <a:alpha val="5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125E9-57E5-4827-96F0-3EEDE31E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2124075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84D"/>
                </a:solidFill>
              </a:defRPr>
            </a:pPr>
            <a:r>
              <a:rPr sz="9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OPEN GATES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84E14A-9169-44CB-A74A-5EB90D39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262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1E0F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77166-6701-4AC4-9520-54CEF39F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26384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A1A77A-53EC-4C84-98A8-D5EADB6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647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Reconcile GUARDED_PRIMARY config vs evidence-only hook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39497F-26D6-455C-AD3A-B52CB6E5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3124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1E0F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5CEAA4-0069-4FA1-95FF-2B003B21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31337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07296C-2C61-4D0A-8192-28B5769D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3143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Verify camera optics and real VIN image quality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D120E8-B385-485C-B447-4CD2E79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361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1E0F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2597C8-C3AF-4BFE-B7EC-B781DD5A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3629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1C6BF-492A-4808-BCCC-61DE6892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3638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Confirm PLC module, port, and ladder pulse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E0B907-D95C-4815-9397-54BC6CFE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4114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1E0F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4C98EA-B8B7-472B-9775-86694DE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41243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0FEDD1-5A07-4AC5-8A13-BCCECD6D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133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Validate R700 region / antennas / RF field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46E018-9990-4B41-9346-C5A2E27B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4610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1E0F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E0980A-D026-4A63-8230-B506F1ED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46196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925AE6-687D-4E2B-B32F-88FC43CD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629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Capture exact GPU and CUDA framework readiness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5E5A78-9A3C-4A10-8ACA-9E692A44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5105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1E0F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DAB76D-A034-4D95-92A2-C8C5B06F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5114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</a:defRPr>
            </a:pPr>
            <a:r>
              <a:rPr sz="12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E36269-4950-4CA3-9409-34E15006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124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Integrate weak-character guards and complete 24 h observation</a:t>
            </a:r>
          </a:p>
        </p:txBody>
      </p:sp>
    </p:spTree>
    <p:extLst>
      <p:ext uri="{BB962C8B-B14F-4D97-AF65-F5344CB8AC3E}">
        <p14:creationId xmlns:p14="http://schemas.microsoft.com/office/powerpoint/2010/main" val="15836054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C9DB82-3387-478B-BBDE-E3DA0325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8BFF">
                  <a:alpha val="22000"/>
                </a:srgbClr>
              </a:gs>
              <a:gs pos="72000">
                <a:srgbClr val="168B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B93BE-DE46-484E-B444-C6227AF5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28575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6D9FF">
                  <a:alpha val="12000"/>
                </a:srgbClr>
              </a:gs>
              <a:gs pos="72000">
                <a:srgbClr val="16D9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8860F-61A2-4621-8A39-C683BEB5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D9FF"/>
                </a:solidFill>
              </a:defRPr>
            </a:pPr>
            <a:r>
              <a:rPr sz="10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9600D-8408-4E09-86CC-736AC4D5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0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A4B8"/>
                </a:solidFill>
              </a:defRPr>
            </a:pPr>
            <a:r>
              <a:rPr sz="975" b="1">
                <a:solidFill>
                  <a:srgbClr val="90A4B8"/>
                </a:solidFill>
                <a:latin typeface="Aptos"/>
                <a:ea typeface="Aptos"/>
                <a:cs typeface="Aptos"/>
              </a:rPr>
              <a:t>READINESS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77B28-7781-48A6-B291-C3A0CAF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F"/>
                </a:solidFill>
              </a:defRPr>
            </a:pPr>
            <a:r>
              <a:rPr sz="28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Commissioning evidence determines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B8A0B-43D8-4474-B629-2DDE28FB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4B8"/>
                </a:solidFill>
              </a:defRPr>
            </a:pPr>
            <a:r>
              <a:rPr sz="1275" b="0">
                <a:solidFill>
                  <a:srgbClr val="90A4B8"/>
                </a:solidFill>
                <a:latin typeface="Aptos"/>
                <a:ea typeface="Aptos"/>
                <a:cs typeface="Aptos"/>
              </a:rPr>
              <a:t>Offline coverage supports deployment; it does not replace proof from Station 509.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F218C-2BDC-45FE-9EB2-6AC2C659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C10CD-314C-43C0-A87F-2DAB6713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133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D89A1-ACAF-48CA-A99B-0681C0B0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143125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25002-876B-4B0B-9207-99530911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FFC5E-8213-4254-A05C-C6101C02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32956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B84D"/>
                </a:solidFill>
              </a:defRPr>
            </a:pPr>
            <a:r>
              <a:rPr sz="15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PLC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D57E7-F583-4822-AD39-78E86C5D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37909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one pulse → one session</a:t>
            </a:r>
          </a:p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no replay / no duplicate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BD716-E1A8-4529-A5E2-878CA61F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133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78118-4E21-4FCE-A736-3323C1D5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143125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D9FF"/>
                </a:solidFill>
              </a:defRPr>
            </a:pPr>
            <a:r>
              <a:rPr sz="135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04AF6-B51D-4856-A329-58732E10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03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D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1F3DF-2954-498D-8A39-8C0B9627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32956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D9FF"/>
                </a:solidFill>
              </a:defRPr>
            </a:pPr>
            <a:r>
              <a:rPr sz="157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CAMERA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76141-F1AF-49A5-8D09-CF6654BB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37909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nameplate + optics</a:t>
            </a:r>
          </a:p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capture / reconnect / exposure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805FE-69C5-4613-9F03-B5756D54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133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E2136-824D-4706-B146-DB5EDCB6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143125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87FF"/>
                </a:solidFill>
              </a:defRPr>
            </a:pPr>
            <a:r>
              <a:rPr sz="1350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E1AF4-1322-443A-AA35-57198B13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8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76008-9D87-4785-89BA-4C073B0C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32956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87FF"/>
                </a:solidFill>
              </a:defRPr>
            </a:pPr>
            <a:r>
              <a:rPr sz="1575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RFID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91602-2C1B-44AF-843A-73049AB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37909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region + firmware + antennas</a:t>
            </a:r>
          </a:p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adjacent-body / stale-tag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DECB8-5548-4656-B783-C1486CD5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133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681B88-601E-429E-90FF-4095310D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143125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6E6A8"/>
                </a:solidFill>
              </a:defRPr>
            </a:pPr>
            <a:r>
              <a:rPr sz="135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719929-7594-4A22-B42A-606F786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03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E6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9C350-A66D-438F-90F7-AAAEB17E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32956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6E6A8"/>
                </a:solidFill>
              </a:defRPr>
            </a:pPr>
            <a:r>
              <a:rPr sz="157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GPU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0DC71-9DF2-42E7-AD32-9BDFCEF7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37909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exact SKU + driver</a:t>
            </a:r>
          </a:p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Torch and Paddle CUDA probes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04738-557C-421E-9038-64038D8E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9400" y="2133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45C7D-44E2-4A45-A266-BEFB9366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9400" y="2143125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</a:defRPr>
            </a:pPr>
            <a:r>
              <a:rPr sz="135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87D3C-25E0-40F8-B99A-4918F0F0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003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54519-8B9D-412D-834E-3C01F855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32956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B6B"/>
                </a:solidFill>
              </a:defRPr>
            </a:pPr>
            <a:r>
              <a:rPr sz="157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24 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5CC808-8A2F-4C09-92B8-099D3FCB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37909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real window completed</a:t>
            </a:r>
          </a:p>
          <a:p xmlns:a="http://schemas.openxmlformats.org/drawingml/2006/main">
            <a:pPr algn="ctr">
              <a:defRPr sz="1200" b="0">
                <a:solidFill>
                  <a:srgbClr val="BDEFFF"/>
                </a:solidFill>
              </a:defRPr>
            </a:pPr>
            <a:r>
              <a:rPr sz="120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zero duplicate records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8EF0D-A8F3-4BB3-884B-6AE19204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4991100"/>
            <a:ext cx="8686800" cy="838200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0C2630"/>
              </a:gs>
              <a:gs pos="100000">
                <a:srgbClr val="081522"/>
              </a:gs>
            </a:gsLst>
            <a:lin ang="8700000"/>
          </a:gradFill>
          <a:ln xmlns:a="http://schemas.openxmlformats.org/drawingml/2006/main" w="19050">
            <a:solidFill>
              <a:srgbClr val="46E6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389CAA-8070-469A-8AA6-A2DBEC21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5219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6E6A8"/>
                </a:solidFill>
              </a:defRPr>
            </a:pPr>
            <a:r>
              <a:rPr sz="1800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Documentation package: READY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1C26C5-7822-4FBE-BD2F-27F64CB2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2197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B84D"/>
                </a:solidFill>
              </a:defRPr>
            </a:pPr>
            <a:r>
              <a:rPr sz="15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Live production validation: PENDING SITE EVIDENCE</a:t>
            </a:r>
          </a:p>
        </p:txBody>
      </p:sp>
    </p:spTree>
    <p:extLst>
      <p:ext uri="{BB962C8B-B14F-4D97-AF65-F5344CB8AC3E}">
        <p14:creationId xmlns:p14="http://schemas.microsoft.com/office/powerpoint/2010/main" val="1536569316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30812"/>
            </a:gs>
            <a:gs pos="58000">
              <a:srgbClr val="071826"/>
            </a:gs>
            <a:gs pos="100000">
              <a:srgbClr val="0B3141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EF2AD-35E8-4C0D-BBF1-477CD1E2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704850"/>
            <a:ext cx="1089660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6111D">
              <a:alpha val="72000"/>
            </a:srgbClr>
          </a:solidFill>
          <a:ln xmlns:a="http://schemas.openxmlformats.org/drawingml/2006/main" w="14288">
            <a:solidFill>
              <a:srgbClr val="1C66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73E15-914E-454B-A13E-C1FA2522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10477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D9FF">
              <a:alpha val="12000"/>
            </a:srgbClr>
          </a:solidFill>
          <a:ln xmlns:a="http://schemas.openxmlformats.org/drawingml/2006/main" w="9525">
            <a:solidFill>
              <a:srgbClr val="16D9FF">
                <a:alpha val="55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0CD4E-B3BF-4FA2-9310-8D0F1F1B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10572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D9FF"/>
                </a:solidFill>
              </a:defRPr>
            </a:pPr>
            <a:r>
              <a:rPr sz="900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AI_CAM V1.2.1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3E588-872A-4A15-8B0A-6382818F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173355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AFF"/>
                </a:solidFill>
              </a:defRPr>
            </a:pPr>
            <a:r>
              <a:rPr sz="40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One trigger.</a:t>
            </a:r>
          </a:p>
          <a:p xmlns:a="http://schemas.openxmlformats.org/drawingml/2006/main">
            <a:pPr algn="l">
              <a:defRPr sz="4050" b="1">
                <a:solidFill>
                  <a:srgbClr val="F4FAFF"/>
                </a:solidFill>
              </a:defRPr>
            </a:pPr>
            <a:r>
              <a:rPr sz="40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One body.</a:t>
            </a:r>
          </a:p>
          <a:p xmlns:a="http://schemas.openxmlformats.org/drawingml/2006/main">
            <a:pPr algn="l">
              <a:defRPr sz="4050" b="1">
                <a:solidFill>
                  <a:srgbClr val="F4FAFF"/>
                </a:solidFill>
              </a:defRPr>
            </a:pPr>
            <a:r>
              <a:rPr sz="4050" b="1">
                <a:solidFill>
                  <a:srgbClr val="F4FAFF"/>
                </a:solidFill>
                <a:latin typeface="Aptos"/>
                <a:ea typeface="Aptos"/>
                <a:cs typeface="Aptos"/>
              </a:rPr>
              <a:t>One traceable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87ABC-B4A7-4488-858B-9B842603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3243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DEFFF"/>
                </a:solidFill>
              </a:defRPr>
            </a:pPr>
            <a:r>
              <a:rPr sz="1650" b="0">
                <a:solidFill>
                  <a:srgbClr val="BDEFFF"/>
                </a:solidFill>
                <a:latin typeface="Aptos"/>
                <a:ea typeface="Aptos"/>
                <a:cs typeface="Aptos"/>
              </a:rPr>
              <a:t>AI_CAM turns a PLC event, engraved identity, and RFID evidence into a single session-owned production record—with the data needed to explain success and failure.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04125-D342-4281-9772-B1F50F8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69545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B4D78-679C-42C1-A694-7706E3FE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704975"/>
            <a:ext cx="1314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B84D"/>
                </a:solidFill>
              </a:defRPr>
            </a:pPr>
            <a:r>
              <a:rPr sz="12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PLC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E1AAC-3554-4FB3-8C97-22E01E80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169545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6D9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34DC8-7BFA-4435-AA32-B2E3987F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1704975"/>
            <a:ext cx="1314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D9FF"/>
                </a:solidFill>
              </a:defRPr>
            </a:pPr>
            <a:r>
              <a:rPr sz="1275" b="1">
                <a:solidFill>
                  <a:srgbClr val="16D9FF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90197-5367-40FE-A808-A9165B97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50520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258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4C20E-BC7F-421D-B6E5-4DF5C667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3514725"/>
            <a:ext cx="1314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87FF"/>
                </a:solidFill>
              </a:defRPr>
            </a:pPr>
            <a:r>
              <a:rPr sz="1275" b="1">
                <a:solidFill>
                  <a:srgbClr val="2587FF"/>
                </a:solidFill>
                <a:latin typeface="Aptos"/>
                <a:ea typeface="Aptos"/>
                <a:cs typeface="Aptos"/>
              </a:rPr>
              <a:t>RFID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B9B36-5068-4EBC-9A93-A2A233D1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350520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46E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00ACC-D8FC-4227-89E6-EBAD8F22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3514725"/>
            <a:ext cx="1314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6E6A8"/>
                </a:solidFill>
              </a:defRPr>
            </a:pPr>
            <a:r>
              <a:rPr sz="1275" b="1">
                <a:solidFill>
                  <a:srgbClr val="46E6A8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cxnSp>
        <p:nvCxnSpPr>
          <p:cNvPr id="32" name=""/>
          <p:cNvCxnSpPr>
            <a:stCxn xmlns:a="http://schemas.openxmlformats.org/drawingml/2006/main" id="6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8724900" y="23526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D9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6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8067675" y="30099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87F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8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934575" y="30099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10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724900" y="41624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E6A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62B57-A064-472B-AA6B-FC22DE84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5734050"/>
            <a:ext cx="1032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84D"/>
                </a:solidFill>
              </a:defRPr>
            </a:pPr>
            <a:r>
              <a:rPr sz="10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NEXT: CAPTURE SITE EVIDENCE · ALIGN OCR AUTHORITY · COMPLETE 24-HOUR OBSERVATION</a:t>
            </a:r>
          </a:p>
        </p:txBody>
      </p:sp>
    </p:spTree>
    <p:extLst>
      <p:ext uri="{BB962C8B-B14F-4D97-AF65-F5344CB8AC3E}">
        <p14:creationId xmlns:p14="http://schemas.microsoft.com/office/powerpoint/2010/main" val="1403647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2026-07-28T19:54:46.8190000Z</dcterms:created>
  <dcterms:modified xsi:type="dcterms:W3CDTF">2026-07-28T19:54:46.8190000Z</dcterms:modified>
</coreProperties>
</file>